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226f20a3-409c-d923-dcc6-9bbb3ac5b9c2}">
          <p14:sldIdLst>
            <p14:sldId id="256"/>
            <p14:sldId id="257"/>
            <p14:sldId id="258"/>
          </p14:sldIdLst>
        </p14:section>
        <p14:section name="Diseño" id="{8abf095f-cee8-898f-5546-d7e04467974a}">
          <p14:sldIdLst>
            <p14:sldId id="259"/>
            <p14:sldId id="260"/>
          </p14:sldIdLst>
        </p14:section>
        <p14:section name="Piezas" id="{299311dc-42c7-110c-9a4b-86cf3314232f}">
          <p14:sldIdLst>
            <p14:sldId id="261"/>
            <p14:sldId id="262"/>
            <p14:sldId id="263"/>
            <p14:sldId id="264"/>
          </p14:sldIdLst>
        </p14:section>
        <p14:section name="Demostración" id="{f0fc87fd-55bb-701e-8567-2a87ab897988}">
          <p14:sldIdLst>
            <p14:sldId id="265"/>
            <p14:sldId id="266"/>
          </p14:sldIdLst>
        </p14:section>
        <p14:section name="Cierre" id="{58bd3e95-fd19-92c7-81f9-5fafea893a3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Nuestro proyecto es Park-Tech GT: el diseño lógico y la simulación de un parqueo automatizado de 3 niveles.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cuenta los carros que entran y salen, abre o cierra la talanquera, indica a qué nivel ir con semáforos y un tablero, y enciende la ventilación si detecta CO2. Son 12 espacios en 3 niveles, y todo trabaja con un solo reloj de 1 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Dividimos el sistema en 4 piezas independientes, una por integrante. La Pieza 1 es el conteo global, la Pieza 2 controla los niveles, la Pieza 3 es la ventilación por CO2 y la Pieza 4 es el reloj, el acondicionamiento de los sensores y la integración. Acordamos los nombres de las señales desde el inicio para que todo encajara al unirlo.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sensores de paso entran a la Pieza 4, que los limpia y genera el reloj CLKSINC (línea naranja). De ahí salen pulsos hacia la Pieza 1, el conteo global, y la Pieza 2, los niveles. Los sensores de CO2 van directo a la Pieza 3, que no usa reloj. Todo termina en el panel de luces.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las piezas secuenciales seguimos el método del curso: diagrama de estados, tabla de transición, mapas de Karnaugh para cada flip-flop, ecuaciones mínimas y el circuito con flip-flops D. Para la ventilación hicimos la tabla de verdad de 32 combinaciones. Probamos cada pieza en simulación: más de 1,300 pasos sin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sistema trabaja con un solo reloj, CLKSINC, de 1 Hz: un pulso por segundo, y todos los flip-flops cambian en el mismo flanco. Un sensor real rebota y, si el carro se queda parado, se contaría una vez por segundo. Por eso cada sensor pasa por un acondicionador: el latch SR elimina el rebote, el flip-flop A sincroniza con el reloj y el flip-flop B con una AND genera un pulso de un solo ciclo.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Pieza 1 es un contador síncrono de 0 a 12 con 4 flip-flops D, porque para 13 estados se necesitan 4 bits. Sube cuando entra un carro y baja cuando sale. LLENO = Q3·Q2 porque 12 en binario es 1100. La talanquera es ME = SE·LLENO'. Para que no cambie sin evento usamos retención: D = EN·F + EN'·Q. El display es hexadecimal: 12 se ve como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nivel tiene su propio contador de 0 a 4 con 3 flip-flops D. El semáforo está en verde mientras hay espacio y en rojo cuando llega a 4. El tablero manda los carros al primer nivel con espacio: primero el 1, luego el 2 y el 3. Si no hay ninguno, se enciende SIN ESPACIO.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Pieza 3 es combinacional: no tiene reloj ni flip-flops, por eso responde al instante. Tiene 4 sensores de CO2 y PGLOB, que indica si hay personas. Con 1 o 2 sensores y personas se enciende V1, la ventilación normal. Con 3 o más se encienden V2 y la alarma, haya o no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CAMBIÁ A LOGISIM (ya abierto, Ctrl+K activo, reset hecho con R 1 y 0).
1) Entra un carro: SE_RAW 1, esperá 4 s, SE_RAW 0. Decí: la talanquera abre y el conteo sube a 1; aunque el carro siga frente al sensor no vuelve a contar.
2) Va al nivel 1 y sale: SUB1_RAW 1 y 0, BAJ1_RAW 1 y 0, SS_RAW 1 y 0 (2 s cada uno). El conteo regresa a 0.
3) Llenamos el parqueo: Simular &gt; Frecuencia de reloj &gt; 16 Hz. 12 veces: SE_RAW 1/0 y SUBx 1/0 (carros 1-4 SUB1, 5-8 SUB2, 9-12 SUB3). Regresá a 2 Hz. Decí: C es 12, LLENO, tres rojos y SIN ESPACIO.
4) Ventilación: C4 1 y PGLOB 1 → V1. Luego PGLOB 0, C4 0, y C1, C2, C3 en 1 → V2 y ALARMA.
5) Pregunta integradora: SE_RAW 1 y SUB1_RAW 1 → ME apagado, nivel 1 en rojo, V2 y ALARMA encendidos. Después regresá a esta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Parqueo lleno, llega otro carro al nivel 1 y hay 3 sensores con gas. ME no abre porque LLENO vale 1. El nivel 1 sigue en rojo porque su contador ya está en 4. V2 y ALARMA se encienden al instante y V1 queda apagado. El conteo es secuencial y espera el flanco de CLKSINC; la ventilación es combinacional y reacciona en el mismo instante.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Logramos 4 piezas diseñadas por separado que funcionan juntas. Aprendimos a usar un solo reloj, a limpiar las señales de los sensores y la diferencia entre lógica secuencial y combinacional. Muchas gracias, ¿tienen alguna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821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786384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429000"/>
            <a:ext cx="7863840" cy="9144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58368" cy="658368"/>
          </a:xfrm>
          <a:prstGeom prst="rect">
            <a:avLst/>
          </a:prstGeom>
          <a:solidFill>
            <a:schemeClr val="tx2"/>
          </a:solidFill>
          <a:ln w="12700">
            <a:solidFill>
              <a:schemeClr val="tx2"/>
            </a:solidFill>
            <a:prstDash val="solid"/>
          </a:ln>
        </p:spPr>
      </p:sp>
      <p:sp>
        <p:nvSpPr>
          <p:cNvPr id="3" name="Text 1"/>
          <p:cNvSpPr/>
          <p:nvPr/>
        </p:nvSpPr>
        <p:spPr>
          <a:xfrm>
            <a:off x="548640" y="411480"/>
            <a:ext cx="658368" cy="658368"/>
          </a:xfrm>
          <a:prstGeom prst="rect">
            <a:avLst/>
          </a:prstGeom>
          <a:noFill/>
          <a:ln/>
        </p:spPr>
        <p:txBody>
          <a:bodyPr wrap="square" lIns="0" tIns="0" rIns="0" bIns="0" rtlCol="0" anchor="ctr"/>
          <a:lstStyle/>
          <a:p>
            <a:pPr algn="ctr" indent="0" marL="0">
              <a:buNone/>
            </a:pPr>
            <a:r>
              <a:rPr lang="en-US" sz="3000" b="1" dirty="0">
                <a:solidFill>
                  <a:schemeClr val="bg1"/>
                </a:solidFill>
                <a:latin typeface="Arial" pitchFamily="34" charset="0"/>
                <a:ea typeface="Arial" pitchFamily="34" charset="-122"/>
                <a:cs typeface="Arial" pitchFamily="34" charset="-120"/>
              </a:rPr>
              <a:t>P</a:t>
            </a:r>
            <a:endParaRPr lang="en-US" sz="3000" dirty="0"/>
          </a:p>
        </p:txBody>
      </p:sp>
      <p:sp>
        <p:nvSpPr>
          <p:cNvPr id="4" name="Text 2"/>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Park-Tech GT · Electrónica Digital · Universidad Mariano Gálvez</a:t>
            </a:r>
            <a:endParaRPr lang="en-US" sz="1000" dirty="0"/>
          </a:p>
        </p:txBody>
      </p:sp>
      <p:sp>
        <p:nvSpPr>
          <p:cNvPr id="5" name="Text 3"/>
          <p:cNvSpPr/>
          <p:nvPr>
            <p:ph idx="103" type="title" hasCustomPrompt="1"/>
          </p:nvPr>
        </p:nvSpPr>
        <p:spPr>
          <a:xfrm>
            <a:off x="1417320" y="384048"/>
            <a:ext cx="10241280" cy="713232"/>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821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laca P"/>
          <p:cNvSpPr/>
          <p:nvPr/>
        </p:nvSpPr>
        <p:spPr>
          <a:xfrm>
            <a:off x="731520" y="731520"/>
            <a:ext cx="1143000" cy="1143000"/>
          </a:xfrm>
          <a:prstGeom prst="roundRect">
            <a:avLst>
              <a:gd name="adj" fmla="val 11200"/>
            </a:avLst>
          </a:prstGeom>
          <a:solidFill>
            <a:schemeClr val="tx2"/>
          </a:solidFill>
          <a:ln w="38100">
            <a:solidFill>
              <a:schemeClr val="bg1"/>
            </a:solidFill>
            <a:prstDash val="solid"/>
          </a:ln>
        </p:spPr>
      </p:sp>
      <p:sp>
        <p:nvSpPr>
          <p:cNvPr id="3" name="Letra P"/>
          <p:cNvSpPr txBox="1"/>
          <p:nvPr/>
        </p:nvSpPr>
        <p:spPr>
          <a:xfrm>
            <a:off x="731520" y="731520"/>
            <a:ext cx="1143000" cy="1143000"/>
          </a:xfrm>
          <a:prstGeom prst="rect">
            <a:avLst/>
          </a:prstGeom>
          <a:noFill/>
          <a:ln/>
        </p:spPr>
        <p:txBody>
          <a:bodyPr wrap="square" lIns="0" tIns="0" rIns="0" bIns="0" rtlCol="0" anchor="ctr"/>
          <a:lstStyle/>
          <a:p>
            <a:pPr algn="ctr" indent="0" marL="0">
              <a:buNone/>
            </a:pPr>
            <a:r>
              <a:rPr lang="en-US" sz="5800" b="1" dirty="0">
                <a:solidFill>
                  <a:schemeClr val="bg1"/>
                </a:solidFill>
                <a:latin typeface="Arial" pitchFamily="34" charset="0"/>
                <a:ea typeface="Arial" pitchFamily="34" charset="-122"/>
                <a:cs typeface="Arial" pitchFamily="34" charset="-120"/>
              </a:rPr>
              <a:t>P</a:t>
            </a:r>
            <a:endParaRPr lang="en-US" sz="5800" dirty="0"/>
          </a:p>
        </p:txBody>
      </p:sp>
      <p:sp>
        <p:nvSpPr>
          <p:cNvPr id="4" name="Text 0"/>
          <p:cNvSpPr/>
          <p:nvPr>
            <p:ph idx="100" type="title" hasCustomPrompt="1"/>
          </p:nvPr>
        </p:nvSpPr>
        <p:spPr>
          <a:xfrm>
            <a:off x="731520" y="2240280"/>
            <a:ext cx="7863840" cy="1097280"/>
          </a:xfrm>
          <a:prstGeom prst="rect">
            <a:avLst/>
          </a:prstGeom>
          <a:noFill/>
          <a:ln/>
        </p:spPr>
        <p:txBody>
          <a:bodyPr wrap="square" lIns="0" tIns="0" rIns="0" bIns="0" rtlCol="0" anchor="b"/>
          <a:lstStyle/>
          <a:p>
            <a:pPr algn="l" indent="0" marL="0">
              <a:buNone/>
            </a:pPr>
            <a:r>
              <a:rPr lang="en-US" sz="6000" b="1" dirty="0">
                <a:solidFill>
                  <a:schemeClr val="bg1"/>
                </a:solidFill>
              </a:rPr>
              <a:t>Park-Tech GT</a:t>
            </a:r>
            <a:endParaRPr lang="en-US" sz="6000" dirty="0"/>
          </a:p>
        </p:txBody>
      </p:sp>
      <p:sp>
        <p:nvSpPr>
          <p:cNvPr id="5" name="Text 0"/>
          <p:cNvSpPr/>
          <p:nvPr>
            <p:ph idx="101" type="body" hasCustomPrompt="1"/>
          </p:nvPr>
        </p:nvSpPr>
        <p:spPr>
          <a:xfrm>
            <a:off x="731520" y="3429000"/>
            <a:ext cx="7863840" cy="914400"/>
          </a:xfrm>
          <a:prstGeom prst="rect">
            <a:avLst/>
          </a:prstGeom>
          <a:noFill/>
          <a:ln/>
        </p:spPr>
        <p:txBody>
          <a:bodyPr wrap="square" lIns="0" tIns="0" rIns="0" bIns="0" rtlCol="0" anchor="t"/>
          <a:lstStyle/>
          <a:p>
            <a:pPr algn="l" indent="0" marL="0">
              <a:buNone/>
            </a:pPr>
            <a:r>
              <a:rPr lang="en-US" sz="2200" dirty="0">
                <a:solidFill>
                  <a:schemeClr val="bg2"/>
                </a:solidFill>
              </a:rPr>
              <a:t>Diseño lógico y simulación de un parqueo automatizado de 3 niveles</a:t>
            </a:r>
            <a:endParaRPr lang="en-US" sz="2200" dirty="0"/>
          </a:p>
        </p:txBody>
      </p:sp>
      <p:sp>
        <p:nvSpPr>
          <p:cNvPr id="6" name="Curso"/>
          <p:cNvSpPr txBox="1"/>
          <p:nvPr/>
        </p:nvSpPr>
        <p:spPr>
          <a:xfrm>
            <a:off x="731520" y="4434840"/>
            <a:ext cx="7863840" cy="365760"/>
          </a:xfrm>
          <a:prstGeom prst="rect">
            <a:avLst/>
          </a:prstGeom>
          <a:noFill/>
          <a:ln/>
        </p:spPr>
        <p:txBody>
          <a:bodyPr wrap="square" lIns="0" tIns="0" rIns="0" bIns="0" rtlCol="0" anchor="ctr"/>
          <a:lstStyle/>
          <a:p>
            <a:pPr indent="0" marL="0">
              <a:buNone/>
            </a:pPr>
            <a:r>
              <a:rPr lang="en-US" sz="1600" dirty="0">
                <a:solidFill>
                  <a:schemeClr val="accent1"/>
                </a:solidFill>
              </a:rPr>
              <a:t>Electrónica Digital · Universidad Mariano Gálvez de Guatemala · Octubre de 2026</a:t>
            </a:r>
            <a:endParaRPr lang="en-US" sz="1600" dirty="0"/>
          </a:p>
        </p:txBody>
      </p:sp>
      <p:sp>
        <p:nvSpPr>
          <p:cNvPr id="7" name="Panel integrantes"/>
          <p:cNvSpPr/>
          <p:nvPr/>
        </p:nvSpPr>
        <p:spPr>
          <a:xfrm>
            <a:off x="8732520" y="2240280"/>
            <a:ext cx="2926080" cy="1965960"/>
          </a:xfrm>
          <a:prstGeom prst="roundRect">
            <a:avLst>
              <a:gd name="adj" fmla="val 3721"/>
            </a:avLst>
          </a:prstGeom>
          <a:solidFill>
            <a:srgbClr val="243142"/>
          </a:solidFill>
          <a:ln w="12700">
            <a:solidFill>
              <a:srgbClr val="243142"/>
            </a:solidFill>
            <a:prstDash val="solid"/>
          </a:ln>
        </p:spPr>
      </p:sp>
      <p:sp>
        <p:nvSpPr>
          <p:cNvPr id="8" name="Integrantes"/>
          <p:cNvSpPr txBox="1"/>
          <p:nvPr/>
        </p:nvSpPr>
        <p:spPr>
          <a:xfrm>
            <a:off x="8961120" y="2377440"/>
            <a:ext cx="2560320" cy="1645920"/>
          </a:xfrm>
          <a:prstGeom prst="rect">
            <a:avLst/>
          </a:prstGeom>
          <a:noFill/>
          <a:ln/>
        </p:spPr>
        <p:txBody>
          <a:bodyPr wrap="square" lIns="0" tIns="0" rIns="0" bIns="0" rtlCol="0" anchor="t"/>
          <a:lstStyle/>
          <a:p>
            <a:pPr indent="0" marL="0">
              <a:spcAft>
                <a:spcPts val="300"/>
              </a:spcAft>
              <a:buNone/>
            </a:pPr>
            <a:r>
              <a:rPr lang="en-US" sz="1200" b="1" spc="200" kern="0" dirty="0">
                <a:solidFill>
                  <a:schemeClr val="accent1"/>
                </a:solidFill>
              </a:rPr>
              <a:t>INTEGRANTES</a:t>
            </a:r>
            <a:endParaRPr lang="en-US" sz="1200" dirty="0"/>
          </a:p>
          <a:p>
            <a:pPr indent="0" marL="0">
              <a:spcAft>
                <a:spcPts val="300"/>
              </a:spcAft>
              <a:buNone/>
            </a:pPr>
            <a:r>
              <a:rPr lang="en-US" sz="1600" b="1" dirty="0">
                <a:solidFill>
                  <a:schemeClr val="bg1"/>
                </a:solidFill>
              </a:rPr>
              <a:t>Emilio García</a:t>
            </a:r>
            <a:endParaRPr lang="en-US" sz="1200" dirty="0"/>
          </a:p>
          <a:p>
            <a:pPr indent="0" marL="0">
              <a:spcAft>
                <a:spcPts val="300"/>
              </a:spcAft>
              <a:buNone/>
            </a:pPr>
            <a:r>
              <a:rPr lang="en-US" sz="1300" dirty="0">
                <a:solidFill>
                  <a:schemeClr val="bg2"/>
                </a:solidFill>
              </a:rPr>
              <a:t>0900-23-15301</a:t>
            </a:r>
            <a:endParaRPr lang="en-US" sz="1200" dirty="0"/>
          </a:p>
          <a:p>
            <a:pPr indent="0" marL="0">
              <a:spcAft>
                <a:spcPts val="300"/>
              </a:spcAft>
              <a:buNone/>
            </a:pPr>
            <a:r>
              <a:rPr lang="en-US" sz="1600" b="1" dirty="0">
                <a:solidFill>
                  <a:schemeClr val="bg1"/>
                </a:solidFill>
              </a:rPr>
              <a:t>Cristian Alexander González Castillo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Qué hace el sistema</a:t>
            </a:r>
            <a:endParaRPr lang="en-US" sz="3200" dirty="0"/>
          </a:p>
        </p:txBody>
      </p:sp>
      <p:sp>
        <p:nvSpPr>
          <p:cNvPr id="3" name="Cifra 1"/>
          <p:cNvSpPr txBox="1"/>
          <p:nvPr/>
        </p:nvSpPr>
        <p:spPr>
          <a:xfrm>
            <a:off x="548640" y="1417320"/>
            <a:ext cx="2606040" cy="914400"/>
          </a:xfrm>
          <a:prstGeom prst="rect">
            <a:avLst/>
          </a:prstGeom>
          <a:noFill/>
          <a:ln/>
        </p:spPr>
        <p:txBody>
          <a:bodyPr wrap="square" lIns="0" tIns="0" rIns="0" bIns="0" rtlCol="0" anchor="b"/>
          <a:lstStyle/>
          <a:p>
            <a:pPr indent="0" marL="0">
              <a:buNone/>
            </a:pPr>
            <a:r>
              <a:rPr lang="en-US" sz="6000" b="1" dirty="0">
                <a:solidFill>
                  <a:schemeClr val="tx2"/>
                </a:solidFill>
                <a:latin typeface="Arial" pitchFamily="34" charset="0"/>
                <a:ea typeface="Arial" pitchFamily="34" charset="-122"/>
                <a:cs typeface="Arial" pitchFamily="34" charset="-120"/>
              </a:rPr>
              <a:t>12</a:t>
            </a:r>
            <a:endParaRPr lang="en-US" sz="6000" dirty="0"/>
          </a:p>
        </p:txBody>
      </p:sp>
      <p:sp>
        <p:nvSpPr>
          <p:cNvPr id="4" name="Etiqueta cifra 1"/>
          <p:cNvSpPr txBox="1"/>
          <p:nvPr/>
        </p:nvSpPr>
        <p:spPr>
          <a:xfrm>
            <a:off x="548640" y="2377440"/>
            <a:ext cx="2606040" cy="411480"/>
          </a:xfrm>
          <a:prstGeom prst="rect">
            <a:avLst/>
          </a:prstGeom>
          <a:noFill/>
          <a:ln/>
        </p:spPr>
        <p:txBody>
          <a:bodyPr wrap="square" lIns="0" tIns="0" rIns="0" bIns="0" rtlCol="0" anchor="ctr"/>
          <a:lstStyle/>
          <a:p>
            <a:pPr indent="0" marL="0">
              <a:buNone/>
            </a:pPr>
            <a:r>
              <a:rPr lang="en-US" sz="1600" dirty="0">
                <a:solidFill>
                  <a:schemeClr val="accent6"/>
                </a:solidFill>
              </a:rPr>
              <a:t>espacios en total</a:t>
            </a:r>
            <a:endParaRPr lang="en-US" sz="1600" dirty="0"/>
          </a:p>
        </p:txBody>
      </p:sp>
      <p:sp>
        <p:nvSpPr>
          <p:cNvPr id="5" name="Cifra 2"/>
          <p:cNvSpPr txBox="1"/>
          <p:nvPr/>
        </p:nvSpPr>
        <p:spPr>
          <a:xfrm>
            <a:off x="3364992" y="1417320"/>
            <a:ext cx="2606040" cy="914400"/>
          </a:xfrm>
          <a:prstGeom prst="rect">
            <a:avLst/>
          </a:prstGeom>
          <a:noFill/>
          <a:ln/>
        </p:spPr>
        <p:txBody>
          <a:bodyPr wrap="square" lIns="0" tIns="0" rIns="0" bIns="0" rtlCol="0" anchor="b"/>
          <a:lstStyle/>
          <a:p>
            <a:pPr indent="0" marL="0">
              <a:buNone/>
            </a:pPr>
            <a:r>
              <a:rPr lang="en-US" sz="6000" b="1" dirty="0">
                <a:solidFill>
                  <a:schemeClr val="tx2"/>
                </a:solidFill>
                <a:latin typeface="Arial" pitchFamily="34" charset="0"/>
                <a:ea typeface="Arial" pitchFamily="34" charset="-122"/>
                <a:cs typeface="Arial" pitchFamily="34" charset="-120"/>
              </a:rPr>
              <a:t>3</a:t>
            </a:r>
            <a:endParaRPr lang="en-US" sz="6000" dirty="0"/>
          </a:p>
        </p:txBody>
      </p:sp>
      <p:sp>
        <p:nvSpPr>
          <p:cNvPr id="6" name="Etiqueta cifra 2"/>
          <p:cNvSpPr txBox="1"/>
          <p:nvPr/>
        </p:nvSpPr>
        <p:spPr>
          <a:xfrm>
            <a:off x="3364992" y="2377440"/>
            <a:ext cx="2606040" cy="411480"/>
          </a:xfrm>
          <a:prstGeom prst="rect">
            <a:avLst/>
          </a:prstGeom>
          <a:noFill/>
          <a:ln/>
        </p:spPr>
        <p:txBody>
          <a:bodyPr wrap="square" lIns="0" tIns="0" rIns="0" bIns="0" rtlCol="0" anchor="ctr"/>
          <a:lstStyle/>
          <a:p>
            <a:pPr indent="0" marL="0">
              <a:buNone/>
            </a:pPr>
            <a:r>
              <a:rPr lang="en-US" sz="1600" dirty="0">
                <a:solidFill>
                  <a:schemeClr val="accent6"/>
                </a:solidFill>
              </a:rPr>
              <a:t>niveles de 4 espacios</a:t>
            </a:r>
            <a:endParaRPr lang="en-US" sz="1600" dirty="0"/>
          </a:p>
        </p:txBody>
      </p:sp>
      <p:sp>
        <p:nvSpPr>
          <p:cNvPr id="7" name="Cifra 3"/>
          <p:cNvSpPr txBox="1"/>
          <p:nvPr/>
        </p:nvSpPr>
        <p:spPr>
          <a:xfrm>
            <a:off x="6181344" y="1417320"/>
            <a:ext cx="2606040" cy="914400"/>
          </a:xfrm>
          <a:prstGeom prst="rect">
            <a:avLst/>
          </a:prstGeom>
          <a:noFill/>
          <a:ln/>
        </p:spPr>
        <p:txBody>
          <a:bodyPr wrap="square" lIns="0" tIns="0" rIns="0" bIns="0" rtlCol="0" anchor="b"/>
          <a:lstStyle/>
          <a:p>
            <a:pPr indent="0" marL="0">
              <a:buNone/>
            </a:pPr>
            <a:r>
              <a:rPr lang="en-US" sz="6000" b="1" dirty="0">
                <a:solidFill>
                  <a:schemeClr val="tx2"/>
                </a:solidFill>
                <a:latin typeface="Arial" pitchFamily="34" charset="0"/>
                <a:ea typeface="Arial" pitchFamily="34" charset="-122"/>
                <a:cs typeface="Arial" pitchFamily="34" charset="-120"/>
              </a:rPr>
              <a:t>4</a:t>
            </a:r>
            <a:endParaRPr lang="en-US" sz="6000" dirty="0"/>
          </a:p>
        </p:txBody>
      </p:sp>
      <p:sp>
        <p:nvSpPr>
          <p:cNvPr id="8" name="Etiqueta cifra 3"/>
          <p:cNvSpPr txBox="1"/>
          <p:nvPr/>
        </p:nvSpPr>
        <p:spPr>
          <a:xfrm>
            <a:off x="6181344" y="2377440"/>
            <a:ext cx="2606040" cy="411480"/>
          </a:xfrm>
          <a:prstGeom prst="rect">
            <a:avLst/>
          </a:prstGeom>
          <a:noFill/>
          <a:ln/>
        </p:spPr>
        <p:txBody>
          <a:bodyPr wrap="square" lIns="0" tIns="0" rIns="0" bIns="0" rtlCol="0" anchor="ctr"/>
          <a:lstStyle/>
          <a:p>
            <a:pPr indent="0" marL="0">
              <a:buNone/>
            </a:pPr>
            <a:r>
              <a:rPr lang="en-US" sz="1600" dirty="0">
                <a:solidFill>
                  <a:schemeClr val="accent6"/>
                </a:solidFill>
              </a:rPr>
              <a:t>piezas, una por integrante</a:t>
            </a:r>
            <a:endParaRPr lang="en-US" sz="1600" dirty="0"/>
          </a:p>
        </p:txBody>
      </p:sp>
      <p:sp>
        <p:nvSpPr>
          <p:cNvPr id="9" name="Cifra 4"/>
          <p:cNvSpPr txBox="1"/>
          <p:nvPr/>
        </p:nvSpPr>
        <p:spPr>
          <a:xfrm>
            <a:off x="8997696" y="1417320"/>
            <a:ext cx="2606040" cy="914400"/>
          </a:xfrm>
          <a:prstGeom prst="rect">
            <a:avLst/>
          </a:prstGeom>
          <a:noFill/>
          <a:ln/>
        </p:spPr>
        <p:txBody>
          <a:bodyPr wrap="square" lIns="0" tIns="0" rIns="0" bIns="0" rtlCol="0" anchor="b"/>
          <a:lstStyle/>
          <a:p>
            <a:pPr indent="0" marL="0">
              <a:buNone/>
            </a:pPr>
            <a:r>
              <a:rPr lang="en-US" sz="6000" b="1" dirty="0">
                <a:solidFill>
                  <a:schemeClr val="tx2"/>
                </a:solidFill>
                <a:latin typeface="Arial" pitchFamily="34" charset="0"/>
                <a:ea typeface="Arial" pitchFamily="34" charset="-122"/>
                <a:cs typeface="Arial" pitchFamily="34" charset="-120"/>
              </a:rPr>
              <a:t>1 Hz</a:t>
            </a:r>
            <a:endParaRPr lang="en-US" sz="6000" dirty="0"/>
          </a:p>
        </p:txBody>
      </p:sp>
      <p:sp>
        <p:nvSpPr>
          <p:cNvPr id="10" name="Etiqueta cifra 4"/>
          <p:cNvSpPr txBox="1"/>
          <p:nvPr/>
        </p:nvSpPr>
        <p:spPr>
          <a:xfrm>
            <a:off x="8997696" y="2377440"/>
            <a:ext cx="2606040" cy="411480"/>
          </a:xfrm>
          <a:prstGeom prst="rect">
            <a:avLst/>
          </a:prstGeom>
          <a:noFill/>
          <a:ln/>
        </p:spPr>
        <p:txBody>
          <a:bodyPr wrap="square" lIns="0" tIns="0" rIns="0" bIns="0" rtlCol="0" anchor="ctr"/>
          <a:lstStyle/>
          <a:p>
            <a:pPr indent="0" marL="0">
              <a:buNone/>
            </a:pPr>
            <a:r>
              <a:rPr lang="en-US" sz="1600" dirty="0">
                <a:solidFill>
                  <a:schemeClr val="accent6"/>
                </a:solidFill>
              </a:rPr>
              <a:t>un solo reloj para todo</a:t>
            </a:r>
            <a:endParaRPr lang="en-US" sz="1600" dirty="0"/>
          </a:p>
        </p:txBody>
      </p:sp>
      <p:sp>
        <p:nvSpPr>
          <p:cNvPr id="11" name="Tarjeta Cuenta los carros"/>
          <p:cNvSpPr/>
          <p:nvPr/>
        </p:nvSpPr>
        <p:spPr>
          <a:xfrm>
            <a:off x="548640" y="3246120"/>
            <a:ext cx="2606040" cy="2788920"/>
          </a:xfrm>
          <a:prstGeom prst="roundRect">
            <a:avLst>
              <a:gd name="adj" fmla="val 2807"/>
            </a:avLst>
          </a:prstGeom>
          <a:solidFill>
            <a:schemeClr val="bg2"/>
          </a:solidFill>
          <a:ln w="12700">
            <a:solidFill>
              <a:schemeClr val="bg2"/>
            </a:solidFill>
            <a:prstDash val="solid"/>
          </a:ln>
        </p:spPr>
      </p:sp>
      <p:sp>
        <p:nvSpPr>
          <p:cNvPr id="12" name="Círculo Cuenta los carros"/>
          <p:cNvSpPr/>
          <p:nvPr/>
        </p:nvSpPr>
        <p:spPr>
          <a:xfrm>
            <a:off x="822960" y="3520440"/>
            <a:ext cx="731520" cy="731520"/>
          </a:xfrm>
          <a:prstGeom prst="ellipse">
            <a:avLst/>
          </a:prstGeom>
          <a:solidFill>
            <a:schemeClr val="tx2"/>
          </a:solidFill>
          <a:ln w="12700">
            <a:solidFill>
              <a:schemeClr val="tx2"/>
            </a:solidFill>
            <a:prstDash val="solid"/>
          </a:ln>
        </p:spPr>
      </p:sp>
      <p:pic>
        <p:nvPicPr>
          <p:cNvPr id="13" name="Ícono Cuenta los carros" descr="preencoded.png">    </p:cNvPr>
          <p:cNvPicPr>
            <a:picLocks noChangeAspect="1"/>
          </p:cNvPicPr>
          <p:nvPr/>
        </p:nvPicPr>
        <p:blipFill>
          <a:blip r:embed="rId1"/>
          <a:stretch>
            <a:fillRect/>
          </a:stretch>
        </p:blipFill>
        <p:spPr>
          <a:xfrm>
            <a:off x="1005840" y="3703320"/>
            <a:ext cx="365760" cy="365760"/>
          </a:xfrm>
          <a:prstGeom prst="rect">
            <a:avLst/>
          </a:prstGeom>
        </p:spPr>
      </p:pic>
      <p:sp>
        <p:nvSpPr>
          <p:cNvPr id="14" name="Título Cuenta los carros"/>
          <p:cNvSpPr txBox="1"/>
          <p:nvPr/>
        </p:nvSpPr>
        <p:spPr>
          <a:xfrm>
            <a:off x="822960" y="4434840"/>
            <a:ext cx="2148840" cy="411480"/>
          </a:xfrm>
          <a:prstGeom prst="rect">
            <a:avLst/>
          </a:prstGeom>
          <a:noFill/>
          <a:ln/>
        </p:spPr>
        <p:txBody>
          <a:bodyPr wrap="square" lIns="0" tIns="0" rIns="0" bIns="0" rtlCol="0" anchor="ctr"/>
          <a:lstStyle/>
          <a:p>
            <a:pPr indent="0" marL="0">
              <a:buNone/>
            </a:pPr>
            <a:r>
              <a:rPr lang="en-US" sz="1800" b="1" dirty="0">
                <a:solidFill>
                  <a:schemeClr val="tx1"/>
                </a:solidFill>
              </a:rPr>
              <a:t>Cuenta los carros</a:t>
            </a:r>
            <a:endParaRPr lang="en-US" sz="1800" dirty="0"/>
          </a:p>
        </p:txBody>
      </p:sp>
      <p:sp>
        <p:nvSpPr>
          <p:cNvPr id="15" name="Texto Cuenta los carros"/>
          <p:cNvSpPr txBox="1"/>
          <p:nvPr/>
        </p:nvSpPr>
        <p:spPr>
          <a:xfrm>
            <a:off x="822960" y="4892040"/>
            <a:ext cx="2148840" cy="960120"/>
          </a:xfrm>
          <a:prstGeom prst="rect">
            <a:avLst/>
          </a:prstGeom>
          <a:noFill/>
          <a:ln/>
        </p:spPr>
        <p:txBody>
          <a:bodyPr wrap="square" lIns="0" tIns="0" rIns="0" bIns="0" rtlCol="0" anchor="t"/>
          <a:lstStyle/>
          <a:p>
            <a:pPr indent="0" marL="0">
              <a:buNone/>
            </a:pPr>
            <a:r>
              <a:rPr lang="en-US" sz="1500" dirty="0">
                <a:solidFill>
                  <a:schemeClr val="tx1"/>
                </a:solidFill>
              </a:rPr>
              <a:t>Contador de 0 a 12 que sube al entrar y baja al salir.</a:t>
            </a:r>
            <a:endParaRPr lang="en-US" sz="1500" dirty="0"/>
          </a:p>
        </p:txBody>
      </p:sp>
      <p:sp>
        <p:nvSpPr>
          <p:cNvPr id="16" name="Tarjeta Controla la talanquera"/>
          <p:cNvSpPr/>
          <p:nvPr/>
        </p:nvSpPr>
        <p:spPr>
          <a:xfrm>
            <a:off x="3364992" y="3246120"/>
            <a:ext cx="2606040" cy="2788920"/>
          </a:xfrm>
          <a:prstGeom prst="roundRect">
            <a:avLst>
              <a:gd name="adj" fmla="val 2807"/>
            </a:avLst>
          </a:prstGeom>
          <a:solidFill>
            <a:schemeClr val="bg2"/>
          </a:solidFill>
          <a:ln w="12700">
            <a:solidFill>
              <a:schemeClr val="bg2"/>
            </a:solidFill>
            <a:prstDash val="solid"/>
          </a:ln>
        </p:spPr>
      </p:sp>
      <p:sp>
        <p:nvSpPr>
          <p:cNvPr id="17" name="Círculo Controla la talanquera"/>
          <p:cNvSpPr/>
          <p:nvPr/>
        </p:nvSpPr>
        <p:spPr>
          <a:xfrm>
            <a:off x="3639312" y="3520440"/>
            <a:ext cx="731520" cy="731520"/>
          </a:xfrm>
          <a:prstGeom prst="ellipse">
            <a:avLst/>
          </a:prstGeom>
          <a:solidFill>
            <a:schemeClr val="accent1"/>
          </a:solidFill>
          <a:ln w="12700">
            <a:solidFill>
              <a:schemeClr val="accent1"/>
            </a:solidFill>
            <a:prstDash val="solid"/>
          </a:ln>
        </p:spPr>
      </p:sp>
      <p:pic>
        <p:nvPicPr>
          <p:cNvPr id="18" name="Ícono Controla la talanquera" descr="preencoded.png">    </p:cNvPr>
          <p:cNvPicPr>
            <a:picLocks noChangeAspect="1"/>
          </p:cNvPicPr>
          <p:nvPr/>
        </p:nvPicPr>
        <p:blipFill>
          <a:blip r:embed="rId2"/>
          <a:stretch>
            <a:fillRect/>
          </a:stretch>
        </p:blipFill>
        <p:spPr>
          <a:xfrm>
            <a:off x="3822192" y="3703320"/>
            <a:ext cx="365760" cy="365760"/>
          </a:xfrm>
          <a:prstGeom prst="rect">
            <a:avLst/>
          </a:prstGeom>
        </p:spPr>
      </p:pic>
      <p:sp>
        <p:nvSpPr>
          <p:cNvPr id="19" name="Título Controla la talanquera"/>
          <p:cNvSpPr txBox="1"/>
          <p:nvPr/>
        </p:nvSpPr>
        <p:spPr>
          <a:xfrm>
            <a:off x="3639312" y="4434840"/>
            <a:ext cx="2148840" cy="411480"/>
          </a:xfrm>
          <a:prstGeom prst="rect">
            <a:avLst/>
          </a:prstGeom>
          <a:noFill/>
          <a:ln/>
        </p:spPr>
        <p:txBody>
          <a:bodyPr wrap="square" lIns="0" tIns="0" rIns="0" bIns="0" rtlCol="0" anchor="ctr"/>
          <a:lstStyle/>
          <a:p>
            <a:pPr indent="0" marL="0">
              <a:buNone/>
            </a:pPr>
            <a:r>
              <a:rPr lang="en-US" sz="1800" b="1" dirty="0">
                <a:solidFill>
                  <a:schemeClr val="tx1"/>
                </a:solidFill>
              </a:rPr>
              <a:t>Controla la talanquera</a:t>
            </a:r>
            <a:endParaRPr lang="en-US" sz="1800" dirty="0"/>
          </a:p>
        </p:txBody>
      </p:sp>
      <p:sp>
        <p:nvSpPr>
          <p:cNvPr id="20" name="Texto Controla la talanquera"/>
          <p:cNvSpPr txBox="1"/>
          <p:nvPr/>
        </p:nvSpPr>
        <p:spPr>
          <a:xfrm>
            <a:off x="3639312" y="4892040"/>
            <a:ext cx="2148840" cy="960120"/>
          </a:xfrm>
          <a:prstGeom prst="rect">
            <a:avLst/>
          </a:prstGeom>
          <a:noFill/>
          <a:ln/>
        </p:spPr>
        <p:txBody>
          <a:bodyPr wrap="square" lIns="0" tIns="0" rIns="0" bIns="0" rtlCol="0" anchor="t"/>
          <a:lstStyle/>
          <a:p>
            <a:pPr indent="0" marL="0">
              <a:buNone/>
            </a:pPr>
            <a:r>
              <a:rPr lang="en-US" sz="1500" dirty="0">
                <a:solidFill>
                  <a:schemeClr val="tx1"/>
                </a:solidFill>
              </a:rPr>
              <a:t>Abre solo si hay un carro en la entrada y queda espacio.</a:t>
            </a:r>
            <a:endParaRPr lang="en-US" sz="1500" dirty="0"/>
          </a:p>
        </p:txBody>
      </p:sp>
      <p:sp>
        <p:nvSpPr>
          <p:cNvPr id="21" name="Tarjeta Guía al nivel libre"/>
          <p:cNvSpPr/>
          <p:nvPr/>
        </p:nvSpPr>
        <p:spPr>
          <a:xfrm>
            <a:off x="6181344" y="3246120"/>
            <a:ext cx="2606040" cy="2788920"/>
          </a:xfrm>
          <a:prstGeom prst="roundRect">
            <a:avLst>
              <a:gd name="adj" fmla="val 2807"/>
            </a:avLst>
          </a:prstGeom>
          <a:solidFill>
            <a:schemeClr val="bg2"/>
          </a:solidFill>
          <a:ln w="12700">
            <a:solidFill>
              <a:schemeClr val="bg2"/>
            </a:solidFill>
            <a:prstDash val="solid"/>
          </a:ln>
        </p:spPr>
      </p:sp>
      <p:sp>
        <p:nvSpPr>
          <p:cNvPr id="22" name="Círculo Guía al nivel libre"/>
          <p:cNvSpPr/>
          <p:nvPr/>
        </p:nvSpPr>
        <p:spPr>
          <a:xfrm>
            <a:off x="6455664" y="3520440"/>
            <a:ext cx="731520" cy="731520"/>
          </a:xfrm>
          <a:prstGeom prst="ellipse">
            <a:avLst/>
          </a:prstGeom>
          <a:solidFill>
            <a:schemeClr val="accent3"/>
          </a:solidFill>
          <a:ln w="12700">
            <a:solidFill>
              <a:schemeClr val="accent3"/>
            </a:solidFill>
            <a:prstDash val="solid"/>
          </a:ln>
        </p:spPr>
      </p:sp>
      <p:pic>
        <p:nvPicPr>
          <p:cNvPr id="23" name="Ícono Guía al nivel libre" descr="preencoded.png">    </p:cNvPr>
          <p:cNvPicPr>
            <a:picLocks noChangeAspect="1"/>
          </p:cNvPicPr>
          <p:nvPr/>
        </p:nvPicPr>
        <p:blipFill>
          <a:blip r:embed="rId3"/>
          <a:stretch>
            <a:fillRect/>
          </a:stretch>
        </p:blipFill>
        <p:spPr>
          <a:xfrm>
            <a:off x="6638544" y="3703320"/>
            <a:ext cx="365760" cy="365760"/>
          </a:xfrm>
          <a:prstGeom prst="rect">
            <a:avLst/>
          </a:prstGeom>
        </p:spPr>
      </p:pic>
      <p:sp>
        <p:nvSpPr>
          <p:cNvPr id="24" name="Título Guía al nivel libre"/>
          <p:cNvSpPr txBox="1"/>
          <p:nvPr/>
        </p:nvSpPr>
        <p:spPr>
          <a:xfrm>
            <a:off x="6455664" y="4434840"/>
            <a:ext cx="2148840" cy="411480"/>
          </a:xfrm>
          <a:prstGeom prst="rect">
            <a:avLst/>
          </a:prstGeom>
          <a:noFill/>
          <a:ln/>
        </p:spPr>
        <p:txBody>
          <a:bodyPr wrap="square" lIns="0" tIns="0" rIns="0" bIns="0" rtlCol="0" anchor="ctr"/>
          <a:lstStyle/>
          <a:p>
            <a:pPr indent="0" marL="0">
              <a:buNone/>
            </a:pPr>
            <a:r>
              <a:rPr lang="en-US" sz="1800" b="1" dirty="0">
                <a:solidFill>
                  <a:schemeClr val="tx1"/>
                </a:solidFill>
              </a:rPr>
              <a:t>Guía al nivel libre</a:t>
            </a:r>
            <a:endParaRPr lang="en-US" sz="1800" dirty="0"/>
          </a:p>
        </p:txBody>
      </p:sp>
      <p:sp>
        <p:nvSpPr>
          <p:cNvPr id="25" name="Texto Guía al nivel libre"/>
          <p:cNvSpPr txBox="1"/>
          <p:nvPr/>
        </p:nvSpPr>
        <p:spPr>
          <a:xfrm>
            <a:off x="6455664" y="4892040"/>
            <a:ext cx="2148840" cy="960120"/>
          </a:xfrm>
          <a:prstGeom prst="rect">
            <a:avLst/>
          </a:prstGeom>
          <a:noFill/>
          <a:ln/>
        </p:spPr>
        <p:txBody>
          <a:bodyPr wrap="square" lIns="0" tIns="0" rIns="0" bIns="0" rtlCol="0" anchor="t"/>
          <a:lstStyle/>
          <a:p>
            <a:pPr indent="0" marL="0">
              <a:buNone/>
            </a:pPr>
            <a:r>
              <a:rPr lang="en-US" sz="1500" dirty="0">
                <a:solidFill>
                  <a:schemeClr val="tx1"/>
                </a:solidFill>
              </a:rPr>
              <a:t>Semáforo por nivel y un tablero que indica a dónde ir.</a:t>
            </a:r>
            <a:endParaRPr lang="en-US" sz="1500" dirty="0"/>
          </a:p>
        </p:txBody>
      </p:sp>
      <p:sp>
        <p:nvSpPr>
          <p:cNvPr id="26" name="Tarjeta Ventila si hay CO2"/>
          <p:cNvSpPr/>
          <p:nvPr/>
        </p:nvSpPr>
        <p:spPr>
          <a:xfrm>
            <a:off x="8997696" y="3246120"/>
            <a:ext cx="2606040" cy="2788920"/>
          </a:xfrm>
          <a:prstGeom prst="roundRect">
            <a:avLst>
              <a:gd name="adj" fmla="val 2807"/>
            </a:avLst>
          </a:prstGeom>
          <a:solidFill>
            <a:schemeClr val="bg2"/>
          </a:solidFill>
          <a:ln w="12700">
            <a:solidFill>
              <a:schemeClr val="bg2"/>
            </a:solidFill>
            <a:prstDash val="solid"/>
          </a:ln>
        </p:spPr>
      </p:sp>
      <p:sp>
        <p:nvSpPr>
          <p:cNvPr id="27" name="Círculo Ventila si hay CO2"/>
          <p:cNvSpPr/>
          <p:nvPr/>
        </p:nvSpPr>
        <p:spPr>
          <a:xfrm>
            <a:off x="9272016" y="3520440"/>
            <a:ext cx="731520" cy="731520"/>
          </a:xfrm>
          <a:prstGeom prst="ellipse">
            <a:avLst/>
          </a:prstGeom>
          <a:solidFill>
            <a:schemeClr val="accent4"/>
          </a:solidFill>
          <a:ln w="12700">
            <a:solidFill>
              <a:schemeClr val="accent4"/>
            </a:solidFill>
            <a:prstDash val="solid"/>
          </a:ln>
        </p:spPr>
      </p:sp>
      <p:pic>
        <p:nvPicPr>
          <p:cNvPr id="28" name="Ícono Ventila si hay CO2" descr="preencoded.png">    </p:cNvPr>
          <p:cNvPicPr>
            <a:picLocks noChangeAspect="1"/>
          </p:cNvPicPr>
          <p:nvPr/>
        </p:nvPicPr>
        <p:blipFill>
          <a:blip r:embed="rId4"/>
          <a:stretch>
            <a:fillRect/>
          </a:stretch>
        </p:blipFill>
        <p:spPr>
          <a:xfrm>
            <a:off x="9454896" y="3703320"/>
            <a:ext cx="365760" cy="365760"/>
          </a:xfrm>
          <a:prstGeom prst="rect">
            <a:avLst/>
          </a:prstGeom>
        </p:spPr>
      </p:pic>
      <p:sp>
        <p:nvSpPr>
          <p:cNvPr id="29" name="Título Ventila si hay CO2"/>
          <p:cNvSpPr txBox="1"/>
          <p:nvPr/>
        </p:nvSpPr>
        <p:spPr>
          <a:xfrm>
            <a:off x="9272016" y="4434840"/>
            <a:ext cx="2148840" cy="411480"/>
          </a:xfrm>
          <a:prstGeom prst="rect">
            <a:avLst/>
          </a:prstGeom>
          <a:noFill/>
          <a:ln/>
        </p:spPr>
        <p:txBody>
          <a:bodyPr wrap="square" lIns="0" tIns="0" rIns="0" bIns="0" rtlCol="0" anchor="ctr"/>
          <a:lstStyle/>
          <a:p>
            <a:pPr indent="0" marL="0">
              <a:buNone/>
            </a:pPr>
            <a:r>
              <a:rPr lang="en-US" sz="1800" b="1" dirty="0">
                <a:solidFill>
                  <a:schemeClr val="tx1"/>
                </a:solidFill>
              </a:rPr>
              <a:t>Ventila si hay CO2</a:t>
            </a:r>
            <a:endParaRPr lang="en-US" sz="1800" dirty="0"/>
          </a:p>
        </p:txBody>
      </p:sp>
      <p:sp>
        <p:nvSpPr>
          <p:cNvPr id="30" name="Texto Ventila si hay CO2"/>
          <p:cNvSpPr txBox="1"/>
          <p:nvPr/>
        </p:nvSpPr>
        <p:spPr>
          <a:xfrm>
            <a:off x="9272016" y="4892040"/>
            <a:ext cx="2148840" cy="960120"/>
          </a:xfrm>
          <a:prstGeom prst="rect">
            <a:avLst/>
          </a:prstGeom>
          <a:noFill/>
          <a:ln/>
        </p:spPr>
        <p:txBody>
          <a:bodyPr wrap="square" lIns="0" tIns="0" rIns="0" bIns="0" rtlCol="0" anchor="t"/>
          <a:lstStyle/>
          <a:p>
            <a:pPr indent="0" marL="0">
              <a:buNone/>
            </a:pPr>
            <a:r>
              <a:rPr lang="en-US" sz="1500" dirty="0">
                <a:solidFill>
                  <a:schemeClr val="tx1"/>
                </a:solidFill>
              </a:rPr>
              <a:t>Ventilación normal, o extracción fuerte con alarma.</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Cómo nos organizamos</a:t>
            </a:r>
            <a:endParaRPr lang="en-US" sz="3200" dirty="0"/>
          </a:p>
        </p:txBody>
      </p:sp>
      <p:sp>
        <p:nvSpPr>
          <p:cNvPr id="3" name="Pieza 1"/>
          <p:cNvSpPr/>
          <p:nvPr/>
        </p:nvSpPr>
        <p:spPr>
          <a:xfrm>
            <a:off x="548640" y="1417320"/>
            <a:ext cx="2606040" cy="4023360"/>
          </a:xfrm>
          <a:prstGeom prst="roundRect">
            <a:avLst>
              <a:gd name="adj" fmla="val 2807"/>
            </a:avLst>
          </a:prstGeom>
          <a:solidFill>
            <a:schemeClr val="bg2"/>
          </a:solidFill>
          <a:ln w="12700">
            <a:solidFill>
              <a:schemeClr val="bg2"/>
            </a:solidFill>
            <a:prstDash val="solid"/>
          </a:ln>
        </p:spPr>
      </p:sp>
      <p:sp>
        <p:nvSpPr>
          <p:cNvPr id="4" name="Placa pieza 1"/>
          <p:cNvSpPr/>
          <p:nvPr/>
        </p:nvSpPr>
        <p:spPr>
          <a:xfrm>
            <a:off x="822960" y="1691640"/>
            <a:ext cx="777240" cy="777240"/>
          </a:xfrm>
          <a:prstGeom prst="roundRect">
            <a:avLst>
              <a:gd name="adj" fmla="val 11765"/>
            </a:avLst>
          </a:prstGeom>
          <a:solidFill>
            <a:schemeClr val="tx2"/>
          </a:solidFill>
          <a:ln w="12700">
            <a:solidFill>
              <a:schemeClr val="tx2"/>
            </a:solidFill>
            <a:prstDash val="solid"/>
          </a:ln>
        </p:spPr>
      </p:sp>
      <p:sp>
        <p:nvSpPr>
          <p:cNvPr id="5" name="Número pieza 1"/>
          <p:cNvSpPr txBox="1"/>
          <p:nvPr/>
        </p:nvSpPr>
        <p:spPr>
          <a:xfrm>
            <a:off x="822960" y="1691640"/>
            <a:ext cx="777240" cy="777240"/>
          </a:xfrm>
          <a:prstGeom prst="rect">
            <a:avLst/>
          </a:prstGeom>
          <a:noFill/>
          <a:ln/>
        </p:spPr>
        <p:txBody>
          <a:bodyPr wrap="square" lIns="0" tIns="0" rIns="0" bIns="0" rtlCol="0" anchor="ctr"/>
          <a:lstStyle/>
          <a:p>
            <a:pPr algn="ctr" indent="0" marL="0">
              <a:buNone/>
            </a:pPr>
            <a:r>
              <a:rPr lang="en-US" sz="3400" b="1" dirty="0">
                <a:solidFill>
                  <a:schemeClr val="bg1"/>
                </a:solidFill>
                <a:latin typeface="Arial" pitchFamily="34" charset="0"/>
                <a:ea typeface="Arial" pitchFamily="34" charset="-122"/>
                <a:cs typeface="Arial" pitchFamily="34" charset="-120"/>
              </a:rPr>
              <a:t>1</a:t>
            </a:r>
            <a:endParaRPr lang="en-US" sz="3400" dirty="0"/>
          </a:p>
        </p:txBody>
      </p:sp>
      <p:sp>
        <p:nvSpPr>
          <p:cNvPr id="6" name="Etiqueta pieza 1"/>
          <p:cNvSpPr txBox="1"/>
          <p:nvPr/>
        </p:nvSpPr>
        <p:spPr>
          <a:xfrm>
            <a:off x="822960" y="2697480"/>
            <a:ext cx="214884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PIEZA 1</a:t>
            </a:r>
            <a:endParaRPr lang="en-US" sz="1200" dirty="0"/>
          </a:p>
        </p:txBody>
      </p:sp>
      <p:sp>
        <p:nvSpPr>
          <p:cNvPr id="7" name="Nombre pieza 1"/>
          <p:cNvSpPr txBox="1"/>
          <p:nvPr/>
        </p:nvSpPr>
        <p:spPr>
          <a:xfrm>
            <a:off x="822960" y="2971800"/>
            <a:ext cx="2148840" cy="457200"/>
          </a:xfrm>
          <a:prstGeom prst="rect">
            <a:avLst/>
          </a:prstGeom>
          <a:noFill/>
          <a:ln/>
        </p:spPr>
        <p:txBody>
          <a:bodyPr wrap="square" lIns="0" tIns="0" rIns="0" bIns="0" rtlCol="0" anchor="ctr"/>
          <a:lstStyle/>
          <a:p>
            <a:pPr indent="0" marL="0">
              <a:buNone/>
            </a:pPr>
            <a:r>
              <a:rPr lang="en-US" sz="2000" b="1" dirty="0">
                <a:solidFill>
                  <a:schemeClr val="tx1"/>
                </a:solidFill>
              </a:rPr>
              <a:t>Conteo global</a:t>
            </a:r>
            <a:endParaRPr lang="en-US" sz="2000" dirty="0"/>
          </a:p>
        </p:txBody>
      </p:sp>
      <p:sp>
        <p:nvSpPr>
          <p:cNvPr id="8" name="Función pieza 1"/>
          <p:cNvSpPr txBox="1"/>
          <p:nvPr/>
        </p:nvSpPr>
        <p:spPr>
          <a:xfrm>
            <a:off x="822960" y="3474720"/>
            <a:ext cx="2148840" cy="1005840"/>
          </a:xfrm>
          <a:prstGeom prst="rect">
            <a:avLst/>
          </a:prstGeom>
          <a:noFill/>
          <a:ln/>
        </p:spPr>
        <p:txBody>
          <a:bodyPr wrap="square" lIns="0" tIns="0" rIns="0" bIns="0" rtlCol="0" anchor="t"/>
          <a:lstStyle/>
          <a:p>
            <a:pPr indent="0" marL="0">
              <a:buNone/>
            </a:pPr>
            <a:r>
              <a:rPr lang="en-US" sz="1500" dirty="0">
                <a:solidFill>
                  <a:schemeClr val="tx1"/>
                </a:solidFill>
              </a:rPr>
              <a:t>Cuenta de 0 a 12, controla la talanquera y el display.</a:t>
            </a:r>
            <a:endParaRPr lang="en-US" sz="1500" dirty="0"/>
          </a:p>
        </p:txBody>
      </p:sp>
      <p:sp>
        <p:nvSpPr>
          <p:cNvPr id="9" name="Responsable pieza 1"/>
          <p:cNvSpPr txBox="1"/>
          <p:nvPr/>
        </p:nvSpPr>
        <p:spPr>
          <a:xfrm>
            <a:off x="822960" y="4572000"/>
            <a:ext cx="2148840" cy="685800"/>
          </a:xfrm>
          <a:prstGeom prst="rect">
            <a:avLst/>
          </a:prstGeom>
          <a:noFill/>
          <a:ln/>
        </p:spPr>
        <p:txBody>
          <a:bodyPr wrap="square" lIns="0" tIns="0" rIns="0" bIns="0" rtlCol="0" anchor="t"/>
          <a:lstStyle/>
          <a:p>
            <a:pPr indent="0" marL="0">
              <a:buNone/>
            </a:pPr>
            <a:r>
              <a:rPr lang="en-US" sz="1200" dirty="0">
                <a:solidFill>
                  <a:schemeClr val="accent6"/>
                </a:solidFill>
              </a:rPr>
              <a:t>Responsable</a:t>
            </a:r>
            <a:endParaRPr lang="en-US" sz="1200" dirty="0"/>
          </a:p>
          <a:p>
            <a:pPr indent="0" marL="0">
              <a:buNone/>
            </a:pPr>
            <a:r>
              <a:rPr lang="en-US" sz="1500" b="1" dirty="0">
                <a:solidFill>
                  <a:schemeClr val="tx2"/>
                </a:solidFill>
              </a:rPr>
              <a:t>Emilio García</a:t>
            </a:r>
            <a:endParaRPr lang="en-US" sz="1200" dirty="0"/>
          </a:p>
        </p:txBody>
      </p:sp>
      <p:sp>
        <p:nvSpPr>
          <p:cNvPr id="10" name="Pieza 2"/>
          <p:cNvSpPr/>
          <p:nvPr/>
        </p:nvSpPr>
        <p:spPr>
          <a:xfrm>
            <a:off x="3364992" y="1417320"/>
            <a:ext cx="2606040" cy="4023360"/>
          </a:xfrm>
          <a:prstGeom prst="roundRect">
            <a:avLst>
              <a:gd name="adj" fmla="val 2807"/>
            </a:avLst>
          </a:prstGeom>
          <a:solidFill>
            <a:schemeClr val="bg2"/>
          </a:solidFill>
          <a:ln w="12700">
            <a:solidFill>
              <a:schemeClr val="bg2"/>
            </a:solidFill>
            <a:prstDash val="solid"/>
          </a:ln>
        </p:spPr>
      </p:sp>
      <p:sp>
        <p:nvSpPr>
          <p:cNvPr id="11" name="Placa pieza 2"/>
          <p:cNvSpPr/>
          <p:nvPr/>
        </p:nvSpPr>
        <p:spPr>
          <a:xfrm>
            <a:off x="3639312" y="1691640"/>
            <a:ext cx="777240" cy="777240"/>
          </a:xfrm>
          <a:prstGeom prst="roundRect">
            <a:avLst>
              <a:gd name="adj" fmla="val 11765"/>
            </a:avLst>
          </a:prstGeom>
          <a:solidFill>
            <a:schemeClr val="tx2"/>
          </a:solidFill>
          <a:ln w="12700">
            <a:solidFill>
              <a:schemeClr val="tx2"/>
            </a:solidFill>
            <a:prstDash val="solid"/>
          </a:ln>
        </p:spPr>
      </p:sp>
      <p:sp>
        <p:nvSpPr>
          <p:cNvPr id="12" name="Número pieza 2"/>
          <p:cNvSpPr txBox="1"/>
          <p:nvPr/>
        </p:nvSpPr>
        <p:spPr>
          <a:xfrm>
            <a:off x="3639312" y="1691640"/>
            <a:ext cx="777240" cy="777240"/>
          </a:xfrm>
          <a:prstGeom prst="rect">
            <a:avLst/>
          </a:prstGeom>
          <a:noFill/>
          <a:ln/>
        </p:spPr>
        <p:txBody>
          <a:bodyPr wrap="square" lIns="0" tIns="0" rIns="0" bIns="0" rtlCol="0" anchor="ctr"/>
          <a:lstStyle/>
          <a:p>
            <a:pPr algn="ctr" indent="0" marL="0">
              <a:buNone/>
            </a:pPr>
            <a:r>
              <a:rPr lang="en-US" sz="3400" b="1" dirty="0">
                <a:solidFill>
                  <a:schemeClr val="bg1"/>
                </a:solidFill>
                <a:latin typeface="Arial" pitchFamily="34" charset="0"/>
                <a:ea typeface="Arial" pitchFamily="34" charset="-122"/>
                <a:cs typeface="Arial" pitchFamily="34" charset="-120"/>
              </a:rPr>
              <a:t>2</a:t>
            </a:r>
            <a:endParaRPr lang="en-US" sz="3400" dirty="0"/>
          </a:p>
        </p:txBody>
      </p:sp>
      <p:sp>
        <p:nvSpPr>
          <p:cNvPr id="13" name="Etiqueta pieza 2"/>
          <p:cNvSpPr txBox="1"/>
          <p:nvPr/>
        </p:nvSpPr>
        <p:spPr>
          <a:xfrm>
            <a:off x="3639312" y="2697480"/>
            <a:ext cx="214884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PIEZA 2</a:t>
            </a:r>
            <a:endParaRPr lang="en-US" sz="1200" dirty="0"/>
          </a:p>
        </p:txBody>
      </p:sp>
      <p:sp>
        <p:nvSpPr>
          <p:cNvPr id="14" name="Nombre pieza 2"/>
          <p:cNvSpPr txBox="1"/>
          <p:nvPr/>
        </p:nvSpPr>
        <p:spPr>
          <a:xfrm>
            <a:off x="3639312" y="2971800"/>
            <a:ext cx="2148840" cy="457200"/>
          </a:xfrm>
          <a:prstGeom prst="rect">
            <a:avLst/>
          </a:prstGeom>
          <a:noFill/>
          <a:ln/>
        </p:spPr>
        <p:txBody>
          <a:bodyPr wrap="square" lIns="0" tIns="0" rIns="0" bIns="0" rtlCol="0" anchor="ctr"/>
          <a:lstStyle/>
          <a:p>
            <a:pPr indent="0" marL="0">
              <a:buNone/>
            </a:pPr>
            <a:r>
              <a:rPr lang="en-US" sz="2000" b="1" dirty="0">
                <a:solidFill>
                  <a:schemeClr val="tx1"/>
                </a:solidFill>
              </a:rPr>
              <a:t>Niveles</a:t>
            </a:r>
            <a:endParaRPr lang="en-US" sz="2000" dirty="0"/>
          </a:p>
        </p:txBody>
      </p:sp>
      <p:sp>
        <p:nvSpPr>
          <p:cNvPr id="15" name="Función pieza 2"/>
          <p:cNvSpPr txBox="1"/>
          <p:nvPr/>
        </p:nvSpPr>
        <p:spPr>
          <a:xfrm>
            <a:off x="3639312" y="3474720"/>
            <a:ext cx="2148840" cy="1005840"/>
          </a:xfrm>
          <a:prstGeom prst="rect">
            <a:avLst/>
          </a:prstGeom>
          <a:noFill/>
          <a:ln/>
        </p:spPr>
        <p:txBody>
          <a:bodyPr wrap="square" lIns="0" tIns="0" rIns="0" bIns="0" rtlCol="0" anchor="t"/>
          <a:lstStyle/>
          <a:p>
            <a:pPr indent="0" marL="0">
              <a:buNone/>
            </a:pPr>
            <a:r>
              <a:rPr lang="en-US" sz="1500" dirty="0">
                <a:solidFill>
                  <a:schemeClr val="tx1"/>
                </a:solidFill>
              </a:rPr>
              <a:t>Contador de 0 a 4 por nivel, semáforos y tablero.</a:t>
            </a:r>
            <a:endParaRPr lang="en-US" sz="1500" dirty="0"/>
          </a:p>
        </p:txBody>
      </p:sp>
      <p:sp>
        <p:nvSpPr>
          <p:cNvPr id="16" name="Responsable pieza 2"/>
          <p:cNvSpPr txBox="1"/>
          <p:nvPr/>
        </p:nvSpPr>
        <p:spPr>
          <a:xfrm>
            <a:off x="3639312" y="4572000"/>
            <a:ext cx="2148840" cy="685800"/>
          </a:xfrm>
          <a:prstGeom prst="rect">
            <a:avLst/>
          </a:prstGeom>
          <a:noFill/>
          <a:ln/>
        </p:spPr>
        <p:txBody>
          <a:bodyPr wrap="square" lIns="0" tIns="0" rIns="0" bIns="0" rtlCol="0" anchor="t"/>
          <a:lstStyle/>
          <a:p>
            <a:pPr indent="0" marL="0">
              <a:buNone/>
            </a:pPr>
            <a:r>
              <a:rPr lang="en-US" sz="1200" dirty="0">
                <a:solidFill>
                  <a:schemeClr val="accent6"/>
                </a:solidFill>
              </a:rPr>
              <a:t>Responsable</a:t>
            </a:r>
            <a:endParaRPr lang="en-US" sz="1200" dirty="0"/>
          </a:p>
          <a:p>
            <a:pPr indent="0" marL="0">
              <a:buNone/>
            </a:pPr>
            <a:r>
              <a:rPr lang="en-US" sz="1500" b="1" dirty="0">
                <a:solidFill>
                  <a:schemeClr val="tx2"/>
                </a:solidFill>
              </a:rPr>
              <a:t>Equipo Park-Tech GT</a:t>
            </a:r>
            <a:endParaRPr lang="en-US" sz="1200" dirty="0"/>
          </a:p>
        </p:txBody>
      </p:sp>
      <p:sp>
        <p:nvSpPr>
          <p:cNvPr id="17" name="Pieza 3"/>
          <p:cNvSpPr/>
          <p:nvPr/>
        </p:nvSpPr>
        <p:spPr>
          <a:xfrm>
            <a:off x="6181344" y="1417320"/>
            <a:ext cx="2606040" cy="4023360"/>
          </a:xfrm>
          <a:prstGeom prst="roundRect">
            <a:avLst>
              <a:gd name="adj" fmla="val 2807"/>
            </a:avLst>
          </a:prstGeom>
          <a:solidFill>
            <a:schemeClr val="bg2"/>
          </a:solidFill>
          <a:ln w="12700">
            <a:solidFill>
              <a:schemeClr val="bg2"/>
            </a:solidFill>
            <a:prstDash val="solid"/>
          </a:ln>
        </p:spPr>
      </p:sp>
      <p:sp>
        <p:nvSpPr>
          <p:cNvPr id="18" name="Placa pieza 3"/>
          <p:cNvSpPr/>
          <p:nvPr/>
        </p:nvSpPr>
        <p:spPr>
          <a:xfrm>
            <a:off x="6455664" y="1691640"/>
            <a:ext cx="777240" cy="777240"/>
          </a:xfrm>
          <a:prstGeom prst="roundRect">
            <a:avLst>
              <a:gd name="adj" fmla="val 11765"/>
            </a:avLst>
          </a:prstGeom>
          <a:solidFill>
            <a:schemeClr val="tx2"/>
          </a:solidFill>
          <a:ln w="12700">
            <a:solidFill>
              <a:schemeClr val="tx2"/>
            </a:solidFill>
            <a:prstDash val="solid"/>
          </a:ln>
        </p:spPr>
      </p:sp>
      <p:sp>
        <p:nvSpPr>
          <p:cNvPr id="19" name="Número pieza 3"/>
          <p:cNvSpPr txBox="1"/>
          <p:nvPr/>
        </p:nvSpPr>
        <p:spPr>
          <a:xfrm>
            <a:off x="6455664" y="1691640"/>
            <a:ext cx="777240" cy="777240"/>
          </a:xfrm>
          <a:prstGeom prst="rect">
            <a:avLst/>
          </a:prstGeom>
          <a:noFill/>
          <a:ln/>
        </p:spPr>
        <p:txBody>
          <a:bodyPr wrap="square" lIns="0" tIns="0" rIns="0" bIns="0" rtlCol="0" anchor="ctr"/>
          <a:lstStyle/>
          <a:p>
            <a:pPr algn="ctr" indent="0" marL="0">
              <a:buNone/>
            </a:pPr>
            <a:r>
              <a:rPr lang="en-US" sz="3400" b="1" dirty="0">
                <a:solidFill>
                  <a:schemeClr val="bg1"/>
                </a:solidFill>
                <a:latin typeface="Arial" pitchFamily="34" charset="0"/>
                <a:ea typeface="Arial" pitchFamily="34" charset="-122"/>
                <a:cs typeface="Arial" pitchFamily="34" charset="-120"/>
              </a:rPr>
              <a:t>3</a:t>
            </a:r>
            <a:endParaRPr lang="en-US" sz="3400" dirty="0"/>
          </a:p>
        </p:txBody>
      </p:sp>
      <p:sp>
        <p:nvSpPr>
          <p:cNvPr id="20" name="Etiqueta pieza 3"/>
          <p:cNvSpPr txBox="1"/>
          <p:nvPr/>
        </p:nvSpPr>
        <p:spPr>
          <a:xfrm>
            <a:off x="6455664" y="2697480"/>
            <a:ext cx="214884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PIEZA 3</a:t>
            </a:r>
            <a:endParaRPr lang="en-US" sz="1200" dirty="0"/>
          </a:p>
        </p:txBody>
      </p:sp>
      <p:sp>
        <p:nvSpPr>
          <p:cNvPr id="21" name="Nombre pieza 3"/>
          <p:cNvSpPr txBox="1"/>
          <p:nvPr/>
        </p:nvSpPr>
        <p:spPr>
          <a:xfrm>
            <a:off x="6455664" y="2971800"/>
            <a:ext cx="2148840" cy="457200"/>
          </a:xfrm>
          <a:prstGeom prst="rect">
            <a:avLst/>
          </a:prstGeom>
          <a:noFill/>
          <a:ln/>
        </p:spPr>
        <p:txBody>
          <a:bodyPr wrap="square" lIns="0" tIns="0" rIns="0" bIns="0" rtlCol="0" anchor="ctr"/>
          <a:lstStyle/>
          <a:p>
            <a:pPr indent="0" marL="0">
              <a:buNone/>
            </a:pPr>
            <a:r>
              <a:rPr lang="en-US" sz="2000" b="1" dirty="0">
                <a:solidFill>
                  <a:schemeClr val="tx1"/>
                </a:solidFill>
              </a:rPr>
              <a:t>Ventilación CO2</a:t>
            </a:r>
            <a:endParaRPr lang="en-US" sz="2000" dirty="0"/>
          </a:p>
        </p:txBody>
      </p:sp>
      <p:sp>
        <p:nvSpPr>
          <p:cNvPr id="22" name="Función pieza 3"/>
          <p:cNvSpPr txBox="1"/>
          <p:nvPr/>
        </p:nvSpPr>
        <p:spPr>
          <a:xfrm>
            <a:off x="6455664" y="3474720"/>
            <a:ext cx="2148840" cy="1005840"/>
          </a:xfrm>
          <a:prstGeom prst="rect">
            <a:avLst/>
          </a:prstGeom>
          <a:noFill/>
          <a:ln/>
        </p:spPr>
        <p:txBody>
          <a:bodyPr wrap="square" lIns="0" tIns="0" rIns="0" bIns="0" rtlCol="0" anchor="t"/>
          <a:lstStyle/>
          <a:p>
            <a:pPr indent="0" marL="0">
              <a:buNone/>
            </a:pPr>
            <a:r>
              <a:rPr lang="en-US" sz="1500" dirty="0">
                <a:solidFill>
                  <a:schemeClr val="tx1"/>
                </a:solidFill>
              </a:rPr>
              <a:t>Lógica combinacional para los sensores de gas.</a:t>
            </a:r>
            <a:endParaRPr lang="en-US" sz="1500" dirty="0"/>
          </a:p>
        </p:txBody>
      </p:sp>
      <p:sp>
        <p:nvSpPr>
          <p:cNvPr id="23" name="Responsable pieza 3"/>
          <p:cNvSpPr txBox="1"/>
          <p:nvPr/>
        </p:nvSpPr>
        <p:spPr>
          <a:xfrm>
            <a:off x="6455664" y="4572000"/>
            <a:ext cx="2148840" cy="685800"/>
          </a:xfrm>
          <a:prstGeom prst="rect">
            <a:avLst/>
          </a:prstGeom>
          <a:noFill/>
          <a:ln/>
        </p:spPr>
        <p:txBody>
          <a:bodyPr wrap="square" lIns="0" tIns="0" rIns="0" bIns="0" rtlCol="0" anchor="t"/>
          <a:lstStyle/>
          <a:p>
            <a:pPr indent="0" marL="0">
              <a:buNone/>
            </a:pPr>
            <a:r>
              <a:rPr lang="en-US" sz="1200" dirty="0">
                <a:solidFill>
                  <a:schemeClr val="accent6"/>
                </a:solidFill>
              </a:rPr>
              <a:t>Responsable</a:t>
            </a:r>
            <a:endParaRPr lang="en-US" sz="1200" dirty="0"/>
          </a:p>
          <a:p>
            <a:pPr indent="0" marL="0">
              <a:buNone/>
            </a:pPr>
            <a:r>
              <a:rPr lang="en-US" sz="1500" b="1" dirty="0">
                <a:solidFill>
                  <a:schemeClr val="tx2"/>
                </a:solidFill>
              </a:rPr>
              <a:t>Cristian González</a:t>
            </a:r>
            <a:endParaRPr lang="en-US" sz="1200" dirty="0"/>
          </a:p>
        </p:txBody>
      </p:sp>
      <p:sp>
        <p:nvSpPr>
          <p:cNvPr id="24" name="Pieza 4"/>
          <p:cNvSpPr/>
          <p:nvPr/>
        </p:nvSpPr>
        <p:spPr>
          <a:xfrm>
            <a:off x="8997696" y="1417320"/>
            <a:ext cx="2606040" cy="4023360"/>
          </a:xfrm>
          <a:prstGeom prst="roundRect">
            <a:avLst>
              <a:gd name="adj" fmla="val 2807"/>
            </a:avLst>
          </a:prstGeom>
          <a:solidFill>
            <a:schemeClr val="bg2"/>
          </a:solidFill>
          <a:ln w="12700">
            <a:solidFill>
              <a:schemeClr val="bg2"/>
            </a:solidFill>
            <a:prstDash val="solid"/>
          </a:ln>
        </p:spPr>
      </p:sp>
      <p:sp>
        <p:nvSpPr>
          <p:cNvPr id="25" name="Placa pieza 4"/>
          <p:cNvSpPr/>
          <p:nvPr/>
        </p:nvSpPr>
        <p:spPr>
          <a:xfrm>
            <a:off x="9272016" y="1691640"/>
            <a:ext cx="777240" cy="777240"/>
          </a:xfrm>
          <a:prstGeom prst="roundRect">
            <a:avLst>
              <a:gd name="adj" fmla="val 11765"/>
            </a:avLst>
          </a:prstGeom>
          <a:solidFill>
            <a:schemeClr val="tx2"/>
          </a:solidFill>
          <a:ln w="12700">
            <a:solidFill>
              <a:schemeClr val="tx2"/>
            </a:solidFill>
            <a:prstDash val="solid"/>
          </a:ln>
        </p:spPr>
      </p:sp>
      <p:sp>
        <p:nvSpPr>
          <p:cNvPr id="26" name="Número pieza 4"/>
          <p:cNvSpPr txBox="1"/>
          <p:nvPr/>
        </p:nvSpPr>
        <p:spPr>
          <a:xfrm>
            <a:off x="9272016" y="1691640"/>
            <a:ext cx="777240" cy="777240"/>
          </a:xfrm>
          <a:prstGeom prst="rect">
            <a:avLst/>
          </a:prstGeom>
          <a:noFill/>
          <a:ln/>
        </p:spPr>
        <p:txBody>
          <a:bodyPr wrap="square" lIns="0" tIns="0" rIns="0" bIns="0" rtlCol="0" anchor="ctr"/>
          <a:lstStyle/>
          <a:p>
            <a:pPr algn="ctr" indent="0" marL="0">
              <a:buNone/>
            </a:pPr>
            <a:r>
              <a:rPr lang="en-US" sz="3400" b="1" dirty="0">
                <a:solidFill>
                  <a:schemeClr val="bg1"/>
                </a:solidFill>
                <a:latin typeface="Arial" pitchFamily="34" charset="0"/>
                <a:ea typeface="Arial" pitchFamily="34" charset="-122"/>
                <a:cs typeface="Arial" pitchFamily="34" charset="-120"/>
              </a:rPr>
              <a:t>4</a:t>
            </a:r>
            <a:endParaRPr lang="en-US" sz="3400" dirty="0"/>
          </a:p>
        </p:txBody>
      </p:sp>
      <p:sp>
        <p:nvSpPr>
          <p:cNvPr id="27" name="Etiqueta pieza 4"/>
          <p:cNvSpPr txBox="1"/>
          <p:nvPr/>
        </p:nvSpPr>
        <p:spPr>
          <a:xfrm>
            <a:off x="9272016" y="2697480"/>
            <a:ext cx="214884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PIEZA 4</a:t>
            </a:r>
            <a:endParaRPr lang="en-US" sz="1200" dirty="0"/>
          </a:p>
        </p:txBody>
      </p:sp>
      <p:sp>
        <p:nvSpPr>
          <p:cNvPr id="28" name="Nombre pieza 4"/>
          <p:cNvSpPr txBox="1"/>
          <p:nvPr/>
        </p:nvSpPr>
        <p:spPr>
          <a:xfrm>
            <a:off x="9272016" y="2971800"/>
            <a:ext cx="2148840" cy="457200"/>
          </a:xfrm>
          <a:prstGeom prst="rect">
            <a:avLst/>
          </a:prstGeom>
          <a:noFill/>
          <a:ln/>
        </p:spPr>
        <p:txBody>
          <a:bodyPr wrap="square" lIns="0" tIns="0" rIns="0" bIns="0" rtlCol="0" anchor="ctr"/>
          <a:lstStyle/>
          <a:p>
            <a:pPr indent="0" marL="0">
              <a:buNone/>
            </a:pPr>
            <a:r>
              <a:rPr lang="en-US" sz="2000" b="1" dirty="0">
                <a:solidFill>
                  <a:schemeClr val="tx1"/>
                </a:solidFill>
              </a:rPr>
              <a:t>Reloj e integración</a:t>
            </a:r>
            <a:endParaRPr lang="en-US" sz="2000" dirty="0"/>
          </a:p>
        </p:txBody>
      </p:sp>
      <p:sp>
        <p:nvSpPr>
          <p:cNvPr id="29" name="Función pieza 4"/>
          <p:cNvSpPr txBox="1"/>
          <p:nvPr/>
        </p:nvSpPr>
        <p:spPr>
          <a:xfrm>
            <a:off x="9272016" y="3474720"/>
            <a:ext cx="2148840" cy="1005840"/>
          </a:xfrm>
          <a:prstGeom prst="rect">
            <a:avLst/>
          </a:prstGeom>
          <a:noFill/>
          <a:ln/>
        </p:spPr>
        <p:txBody>
          <a:bodyPr wrap="square" lIns="0" tIns="0" rIns="0" bIns="0" rtlCol="0" anchor="t"/>
          <a:lstStyle/>
          <a:p>
            <a:pPr indent="0" marL="0">
              <a:buNone/>
            </a:pPr>
            <a:r>
              <a:rPr lang="en-US" sz="1500" dirty="0">
                <a:solidFill>
                  <a:schemeClr val="tx1"/>
                </a:solidFill>
              </a:rPr>
              <a:t>Reloj único, antirrebote de sensores y archivo integrado.</a:t>
            </a:r>
            <a:endParaRPr lang="en-US" sz="1500" dirty="0"/>
          </a:p>
        </p:txBody>
      </p:sp>
      <p:sp>
        <p:nvSpPr>
          <p:cNvPr id="30" name="Responsable pieza 4"/>
          <p:cNvSpPr txBox="1"/>
          <p:nvPr/>
        </p:nvSpPr>
        <p:spPr>
          <a:xfrm>
            <a:off x="9272016" y="4572000"/>
            <a:ext cx="2148840" cy="685800"/>
          </a:xfrm>
          <a:prstGeom prst="rect">
            <a:avLst/>
          </a:prstGeom>
          <a:noFill/>
          <a:ln/>
        </p:spPr>
        <p:txBody>
          <a:bodyPr wrap="square" lIns="0" tIns="0" rIns="0" bIns="0" rtlCol="0" anchor="t"/>
          <a:lstStyle/>
          <a:p>
            <a:pPr indent="0" marL="0">
              <a:buNone/>
            </a:pPr>
            <a:r>
              <a:rPr lang="en-US" sz="1200" dirty="0">
                <a:solidFill>
                  <a:schemeClr val="accent6"/>
                </a:solidFill>
              </a:rPr>
              <a:t>Responsable</a:t>
            </a:r>
            <a:endParaRPr lang="en-US" sz="1200" dirty="0"/>
          </a:p>
          <a:p>
            <a:pPr indent="0" marL="0">
              <a:buNone/>
            </a:pPr>
            <a:r>
              <a:rPr lang="en-US" sz="1500" b="1" dirty="0">
                <a:solidFill>
                  <a:schemeClr val="tx2"/>
                </a:solidFill>
              </a:rPr>
              <a:t>Emilio García y equipo</a:t>
            </a:r>
            <a:endParaRPr lang="en-US" sz="1200" dirty="0"/>
          </a:p>
        </p:txBody>
      </p:sp>
      <p:sp>
        <p:nvSpPr>
          <p:cNvPr id="31" name="Nota organización"/>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600" i="1" dirty="0">
                <a:solidFill>
                  <a:schemeClr val="accent6"/>
                </a:solidFill>
              </a:rPr>
              <a:t>Acordamos los nombres de las señales desde el inicio: cada pieza se diseñó y probó por separado, y al final se unieron en un solo archivo.</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Cómo se conectan las 4 piezas</a:t>
            </a:r>
            <a:endParaRPr lang="en-US" sz="3200" dirty="0"/>
          </a:p>
        </p:txBody>
      </p:sp>
      <p:pic>
        <p:nvPicPr>
          <p:cNvPr id="3" name="Diagrama de arquitectura" descr="/home/claude/park/site/img/arquitectura.png">    </p:cNvPr>
          <p:cNvPicPr>
            <a:picLocks noChangeAspect="1"/>
          </p:cNvPicPr>
          <p:nvPr/>
        </p:nvPicPr>
        <p:blipFill>
          <a:blip r:embed="rId1"/>
          <a:stretch>
            <a:fillRect/>
          </a:stretch>
        </p:blipFill>
        <p:spPr>
          <a:xfrm>
            <a:off x="1344168" y="1325880"/>
            <a:ext cx="9509760" cy="4764024"/>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Cómo diseñamos cada pieza</a:t>
            </a:r>
            <a:endParaRPr lang="en-US" sz="3200" dirty="0"/>
          </a:p>
        </p:txBody>
      </p:sp>
      <p:sp>
        <p:nvSpPr>
          <p:cNvPr id="3" name="Paso 1"/>
          <p:cNvSpPr/>
          <p:nvPr/>
        </p:nvSpPr>
        <p:spPr>
          <a:xfrm>
            <a:off x="548640" y="1417320"/>
            <a:ext cx="1993392" cy="1143000"/>
          </a:xfrm>
          <a:prstGeom prst="roundRect">
            <a:avLst>
              <a:gd name="adj" fmla="val 6400"/>
            </a:avLst>
          </a:prstGeom>
          <a:solidFill>
            <a:schemeClr val="bg2"/>
          </a:solidFill>
          <a:ln w="12700">
            <a:solidFill>
              <a:schemeClr val="bg2"/>
            </a:solidFill>
            <a:prstDash val="solid"/>
          </a:ln>
        </p:spPr>
      </p:sp>
      <p:sp>
        <p:nvSpPr>
          <p:cNvPr id="4" name="Texto paso 1"/>
          <p:cNvSpPr txBox="1"/>
          <p:nvPr/>
        </p:nvSpPr>
        <p:spPr>
          <a:xfrm>
            <a:off x="713232" y="1463040"/>
            <a:ext cx="1691640" cy="1051560"/>
          </a:xfrm>
          <a:prstGeom prst="rect">
            <a:avLst/>
          </a:prstGeom>
          <a:noFill/>
          <a:ln/>
        </p:spPr>
        <p:txBody>
          <a:bodyPr wrap="square" lIns="0" tIns="0" rIns="0" bIns="0" rtlCol="0" anchor="ctr"/>
          <a:lstStyle/>
          <a:p>
            <a:pPr indent="0" marL="0">
              <a:buNone/>
            </a:pPr>
            <a:r>
              <a:rPr lang="en-US" sz="1100" b="1" spc="200" kern="0" dirty="0">
                <a:solidFill>
                  <a:schemeClr val="accent6"/>
                </a:solidFill>
              </a:rPr>
              <a:t>PASO 1</a:t>
            </a:r>
            <a:endParaRPr lang="en-US" sz="1100" dirty="0"/>
          </a:p>
          <a:p>
            <a:pPr indent="0" marL="0">
              <a:buNone/>
            </a:pPr>
            <a:r>
              <a:rPr lang="en-US" sz="1600" b="1" dirty="0">
                <a:solidFill>
                  <a:schemeClr val="tx1"/>
                </a:solidFill>
              </a:rPr>
              <a:t>Diagrama de estados</a:t>
            </a:r>
            <a:endParaRPr lang="en-US" sz="1100" dirty="0"/>
          </a:p>
        </p:txBody>
      </p:sp>
      <p:sp>
        <p:nvSpPr>
          <p:cNvPr id="5" name="Flecha 1"/>
          <p:cNvSpPr/>
          <p:nvPr/>
        </p:nvSpPr>
        <p:spPr>
          <a:xfrm>
            <a:off x="2560320" y="1988820"/>
            <a:ext cx="237744" cy="0"/>
          </a:xfrm>
          <a:prstGeom prst="line">
            <a:avLst/>
          </a:prstGeom>
          <a:noFill/>
          <a:ln w="25400">
            <a:solidFill>
              <a:schemeClr val="accent6"/>
            </a:solidFill>
            <a:prstDash val="solid"/>
            <a:tailEnd type="triangle"/>
          </a:ln>
        </p:spPr>
      </p:sp>
      <p:sp>
        <p:nvSpPr>
          <p:cNvPr id="6" name="Paso 2"/>
          <p:cNvSpPr/>
          <p:nvPr/>
        </p:nvSpPr>
        <p:spPr>
          <a:xfrm>
            <a:off x="2816352" y="1417320"/>
            <a:ext cx="1993392" cy="1143000"/>
          </a:xfrm>
          <a:prstGeom prst="roundRect">
            <a:avLst>
              <a:gd name="adj" fmla="val 6400"/>
            </a:avLst>
          </a:prstGeom>
          <a:solidFill>
            <a:schemeClr val="bg2"/>
          </a:solidFill>
          <a:ln w="12700">
            <a:solidFill>
              <a:schemeClr val="bg2"/>
            </a:solidFill>
            <a:prstDash val="solid"/>
          </a:ln>
        </p:spPr>
      </p:sp>
      <p:sp>
        <p:nvSpPr>
          <p:cNvPr id="7" name="Texto paso 2"/>
          <p:cNvSpPr txBox="1"/>
          <p:nvPr/>
        </p:nvSpPr>
        <p:spPr>
          <a:xfrm>
            <a:off x="2980944" y="1463040"/>
            <a:ext cx="1691640" cy="1051560"/>
          </a:xfrm>
          <a:prstGeom prst="rect">
            <a:avLst/>
          </a:prstGeom>
          <a:noFill/>
          <a:ln/>
        </p:spPr>
        <p:txBody>
          <a:bodyPr wrap="square" lIns="0" tIns="0" rIns="0" bIns="0" rtlCol="0" anchor="ctr"/>
          <a:lstStyle/>
          <a:p>
            <a:pPr indent="0" marL="0">
              <a:buNone/>
            </a:pPr>
            <a:r>
              <a:rPr lang="en-US" sz="1100" b="1" spc="200" kern="0" dirty="0">
                <a:solidFill>
                  <a:schemeClr val="accent6"/>
                </a:solidFill>
              </a:rPr>
              <a:t>PASO 2</a:t>
            </a:r>
            <a:endParaRPr lang="en-US" sz="1100" dirty="0"/>
          </a:p>
          <a:p>
            <a:pPr indent="0" marL="0">
              <a:buNone/>
            </a:pPr>
            <a:r>
              <a:rPr lang="en-US" sz="1600" b="1" dirty="0">
                <a:solidFill>
                  <a:schemeClr val="tx1"/>
                </a:solidFill>
              </a:rPr>
              <a:t>Tabla de transición</a:t>
            </a:r>
            <a:endParaRPr lang="en-US" sz="1100" dirty="0"/>
          </a:p>
        </p:txBody>
      </p:sp>
      <p:sp>
        <p:nvSpPr>
          <p:cNvPr id="8" name="Flecha 2"/>
          <p:cNvSpPr/>
          <p:nvPr/>
        </p:nvSpPr>
        <p:spPr>
          <a:xfrm>
            <a:off x="4828032" y="1988820"/>
            <a:ext cx="237744" cy="0"/>
          </a:xfrm>
          <a:prstGeom prst="line">
            <a:avLst/>
          </a:prstGeom>
          <a:noFill/>
          <a:ln w="25400">
            <a:solidFill>
              <a:schemeClr val="accent6"/>
            </a:solidFill>
            <a:prstDash val="solid"/>
            <a:tailEnd type="triangle"/>
          </a:ln>
        </p:spPr>
      </p:sp>
      <p:sp>
        <p:nvSpPr>
          <p:cNvPr id="9" name="Paso 3"/>
          <p:cNvSpPr/>
          <p:nvPr/>
        </p:nvSpPr>
        <p:spPr>
          <a:xfrm>
            <a:off x="5084064" y="1417320"/>
            <a:ext cx="1993392" cy="1143000"/>
          </a:xfrm>
          <a:prstGeom prst="roundRect">
            <a:avLst>
              <a:gd name="adj" fmla="val 6400"/>
            </a:avLst>
          </a:prstGeom>
          <a:solidFill>
            <a:schemeClr val="bg2"/>
          </a:solidFill>
          <a:ln w="12700">
            <a:solidFill>
              <a:schemeClr val="bg2"/>
            </a:solidFill>
            <a:prstDash val="solid"/>
          </a:ln>
        </p:spPr>
      </p:sp>
      <p:sp>
        <p:nvSpPr>
          <p:cNvPr id="10" name="Texto paso 3"/>
          <p:cNvSpPr txBox="1"/>
          <p:nvPr/>
        </p:nvSpPr>
        <p:spPr>
          <a:xfrm>
            <a:off x="5248656" y="1463040"/>
            <a:ext cx="1691640" cy="1051560"/>
          </a:xfrm>
          <a:prstGeom prst="rect">
            <a:avLst/>
          </a:prstGeom>
          <a:noFill/>
          <a:ln/>
        </p:spPr>
        <p:txBody>
          <a:bodyPr wrap="square" lIns="0" tIns="0" rIns="0" bIns="0" rtlCol="0" anchor="ctr"/>
          <a:lstStyle/>
          <a:p>
            <a:pPr indent="0" marL="0">
              <a:buNone/>
            </a:pPr>
            <a:r>
              <a:rPr lang="en-US" sz="1100" b="1" spc="200" kern="0" dirty="0">
                <a:solidFill>
                  <a:schemeClr val="accent6"/>
                </a:solidFill>
              </a:rPr>
              <a:t>PASO 3</a:t>
            </a:r>
            <a:endParaRPr lang="en-US" sz="1100" dirty="0"/>
          </a:p>
          <a:p>
            <a:pPr indent="0" marL="0">
              <a:buNone/>
            </a:pPr>
            <a:r>
              <a:rPr lang="en-US" sz="1600" b="1" dirty="0">
                <a:solidFill>
                  <a:schemeClr val="tx1"/>
                </a:solidFill>
              </a:rPr>
              <a:t>Mapas de Karnaugh</a:t>
            </a:r>
            <a:endParaRPr lang="en-US" sz="1100" dirty="0"/>
          </a:p>
        </p:txBody>
      </p:sp>
      <p:sp>
        <p:nvSpPr>
          <p:cNvPr id="11" name="Flecha 3"/>
          <p:cNvSpPr/>
          <p:nvPr/>
        </p:nvSpPr>
        <p:spPr>
          <a:xfrm>
            <a:off x="7095744" y="1988820"/>
            <a:ext cx="237744" cy="0"/>
          </a:xfrm>
          <a:prstGeom prst="line">
            <a:avLst/>
          </a:prstGeom>
          <a:noFill/>
          <a:ln w="25400">
            <a:solidFill>
              <a:schemeClr val="accent6"/>
            </a:solidFill>
            <a:prstDash val="solid"/>
            <a:tailEnd type="triangle"/>
          </a:ln>
        </p:spPr>
      </p:sp>
      <p:sp>
        <p:nvSpPr>
          <p:cNvPr id="12" name="Paso 4"/>
          <p:cNvSpPr/>
          <p:nvPr/>
        </p:nvSpPr>
        <p:spPr>
          <a:xfrm>
            <a:off x="7351776" y="1417320"/>
            <a:ext cx="1993392" cy="1143000"/>
          </a:xfrm>
          <a:prstGeom prst="roundRect">
            <a:avLst>
              <a:gd name="adj" fmla="val 6400"/>
            </a:avLst>
          </a:prstGeom>
          <a:solidFill>
            <a:schemeClr val="bg2"/>
          </a:solidFill>
          <a:ln w="12700">
            <a:solidFill>
              <a:schemeClr val="bg2"/>
            </a:solidFill>
            <a:prstDash val="solid"/>
          </a:ln>
        </p:spPr>
      </p:sp>
      <p:sp>
        <p:nvSpPr>
          <p:cNvPr id="13" name="Texto paso 4"/>
          <p:cNvSpPr txBox="1"/>
          <p:nvPr/>
        </p:nvSpPr>
        <p:spPr>
          <a:xfrm>
            <a:off x="7516368" y="1463040"/>
            <a:ext cx="1691640" cy="1051560"/>
          </a:xfrm>
          <a:prstGeom prst="rect">
            <a:avLst/>
          </a:prstGeom>
          <a:noFill/>
          <a:ln/>
        </p:spPr>
        <p:txBody>
          <a:bodyPr wrap="square" lIns="0" tIns="0" rIns="0" bIns="0" rtlCol="0" anchor="ctr"/>
          <a:lstStyle/>
          <a:p>
            <a:pPr indent="0" marL="0">
              <a:buNone/>
            </a:pPr>
            <a:r>
              <a:rPr lang="en-US" sz="1100" b="1" spc="200" kern="0" dirty="0">
                <a:solidFill>
                  <a:schemeClr val="accent6"/>
                </a:solidFill>
              </a:rPr>
              <a:t>PASO 4</a:t>
            </a:r>
            <a:endParaRPr lang="en-US" sz="1100" dirty="0"/>
          </a:p>
          <a:p>
            <a:pPr indent="0" marL="0">
              <a:buNone/>
            </a:pPr>
            <a:r>
              <a:rPr lang="en-US" sz="1600" b="1" dirty="0">
                <a:solidFill>
                  <a:schemeClr val="tx1"/>
                </a:solidFill>
              </a:rPr>
              <a:t>Ecuaciones mínimas</a:t>
            </a:r>
            <a:endParaRPr lang="en-US" sz="1100" dirty="0"/>
          </a:p>
        </p:txBody>
      </p:sp>
      <p:sp>
        <p:nvSpPr>
          <p:cNvPr id="14" name="Flecha 4"/>
          <p:cNvSpPr/>
          <p:nvPr/>
        </p:nvSpPr>
        <p:spPr>
          <a:xfrm>
            <a:off x="9363456" y="1988820"/>
            <a:ext cx="237744" cy="0"/>
          </a:xfrm>
          <a:prstGeom prst="line">
            <a:avLst/>
          </a:prstGeom>
          <a:noFill/>
          <a:ln w="25400">
            <a:solidFill>
              <a:schemeClr val="accent6"/>
            </a:solidFill>
            <a:prstDash val="solid"/>
            <a:tailEnd type="triangle"/>
          </a:ln>
        </p:spPr>
      </p:sp>
      <p:sp>
        <p:nvSpPr>
          <p:cNvPr id="15" name="Paso 5"/>
          <p:cNvSpPr/>
          <p:nvPr/>
        </p:nvSpPr>
        <p:spPr>
          <a:xfrm>
            <a:off x="9619488" y="1417320"/>
            <a:ext cx="1993392" cy="1143000"/>
          </a:xfrm>
          <a:prstGeom prst="roundRect">
            <a:avLst>
              <a:gd name="adj" fmla="val 6400"/>
            </a:avLst>
          </a:prstGeom>
          <a:solidFill>
            <a:schemeClr val="tx2"/>
          </a:solidFill>
          <a:ln w="12700">
            <a:solidFill>
              <a:schemeClr val="tx2"/>
            </a:solidFill>
            <a:prstDash val="solid"/>
          </a:ln>
        </p:spPr>
      </p:sp>
      <p:sp>
        <p:nvSpPr>
          <p:cNvPr id="16" name="Texto paso 5"/>
          <p:cNvSpPr txBox="1"/>
          <p:nvPr/>
        </p:nvSpPr>
        <p:spPr>
          <a:xfrm>
            <a:off x="9784080" y="1463040"/>
            <a:ext cx="1691640" cy="1051560"/>
          </a:xfrm>
          <a:prstGeom prst="rect">
            <a:avLst/>
          </a:prstGeom>
          <a:noFill/>
          <a:ln/>
        </p:spPr>
        <p:txBody>
          <a:bodyPr wrap="square" lIns="0" tIns="0" rIns="0" bIns="0" rtlCol="0" anchor="ctr"/>
          <a:lstStyle/>
          <a:p>
            <a:pPr indent="0" marL="0">
              <a:buNone/>
            </a:pPr>
            <a:r>
              <a:rPr lang="en-US" sz="1100" b="1" spc="200" kern="0" dirty="0">
                <a:solidFill>
                  <a:schemeClr val="bg2"/>
                </a:solidFill>
              </a:rPr>
              <a:t>PASO 5</a:t>
            </a:r>
            <a:endParaRPr lang="en-US" sz="1100" dirty="0"/>
          </a:p>
          <a:p>
            <a:pPr indent="0" marL="0">
              <a:buNone/>
            </a:pPr>
            <a:r>
              <a:rPr lang="en-US" sz="1600" b="1" dirty="0">
                <a:solidFill>
                  <a:schemeClr val="bg1"/>
                </a:solidFill>
              </a:rPr>
              <a:t>Circuito y pruebas en Logisim</a:t>
            </a:r>
            <a:endParaRPr lang="en-US" sz="1100" dirty="0"/>
          </a:p>
        </p:txBody>
      </p:sp>
      <p:pic>
        <p:nvPicPr>
          <p:cNvPr id="17" name="Mapa de Karnaugh F1" descr="/home/claude/park/site/img/p1_kmap_F1.png">    </p:cNvPr>
          <p:cNvPicPr>
            <a:picLocks noChangeAspect="1"/>
          </p:cNvPicPr>
          <p:nvPr/>
        </p:nvPicPr>
        <p:blipFill>
          <a:blip r:embed="rId1"/>
          <a:stretch>
            <a:fillRect/>
          </a:stretch>
        </p:blipFill>
        <p:spPr>
          <a:xfrm>
            <a:off x="548640" y="2926080"/>
            <a:ext cx="6263640" cy="2880360"/>
          </a:xfrm>
          <a:prstGeom prst="rect">
            <a:avLst/>
          </a:prstGeom>
        </p:spPr>
      </p:pic>
      <p:sp>
        <p:nvSpPr>
          <p:cNvPr id="18" name="Pie mapa"/>
          <p:cNvSpPr txBox="1"/>
          <p:nvPr/>
        </p:nvSpPr>
        <p:spPr>
          <a:xfrm>
            <a:off x="548640" y="5852160"/>
            <a:ext cx="6263640" cy="274320"/>
          </a:xfrm>
          <a:prstGeom prst="rect">
            <a:avLst/>
          </a:prstGeom>
          <a:noFill/>
          <a:ln/>
        </p:spPr>
        <p:txBody>
          <a:bodyPr wrap="square" lIns="0" tIns="0" rIns="0" bIns="0" rtlCol="0" anchor="ctr"/>
          <a:lstStyle/>
          <a:p>
            <a:pPr indent="0" marL="0">
              <a:buNone/>
            </a:pPr>
            <a:r>
              <a:rPr lang="en-US" sz="1200" dirty="0">
                <a:solidFill>
                  <a:schemeClr val="accent6"/>
                </a:solidFill>
              </a:rPr>
              <a:t>Ejemplo: mapa de Karnaugh de F1 en la Pieza 1</a:t>
            </a:r>
            <a:endParaRPr lang="en-US" sz="1200" dirty="0"/>
          </a:p>
        </p:txBody>
      </p:sp>
      <p:sp>
        <p:nvSpPr>
          <p:cNvPr id="19" name="Prueba cifra 1"/>
          <p:cNvSpPr txBox="1"/>
          <p:nvPr/>
        </p:nvSpPr>
        <p:spPr>
          <a:xfrm>
            <a:off x="7223760" y="2971800"/>
            <a:ext cx="2011680" cy="777240"/>
          </a:xfrm>
          <a:prstGeom prst="rect">
            <a:avLst/>
          </a:prstGeom>
          <a:noFill/>
          <a:ln/>
        </p:spPr>
        <p:txBody>
          <a:bodyPr wrap="square" lIns="0" tIns="0" rIns="0" bIns="0" rtlCol="0" anchor="ctr"/>
          <a:lstStyle/>
          <a:p>
            <a:pPr indent="0" marL="0">
              <a:buNone/>
            </a:pPr>
            <a:r>
              <a:rPr lang="en-US" sz="3600" b="1" dirty="0">
                <a:solidFill>
                  <a:schemeClr val="tx2"/>
                </a:solidFill>
                <a:latin typeface="Arial" pitchFamily="34" charset="0"/>
                <a:ea typeface="Arial" pitchFamily="34" charset="-122"/>
                <a:cs typeface="Arial" pitchFamily="34" charset="-120"/>
              </a:rPr>
              <a:t>1,358</a:t>
            </a:r>
            <a:endParaRPr lang="en-US" sz="3600" dirty="0"/>
          </a:p>
        </p:txBody>
      </p:sp>
      <p:sp>
        <p:nvSpPr>
          <p:cNvPr id="20" name="Prueba texto 1"/>
          <p:cNvSpPr txBox="1"/>
          <p:nvPr/>
        </p:nvSpPr>
        <p:spPr>
          <a:xfrm>
            <a:off x="9281160" y="2971800"/>
            <a:ext cx="2377440" cy="777240"/>
          </a:xfrm>
          <a:prstGeom prst="rect">
            <a:avLst/>
          </a:prstGeom>
          <a:noFill/>
          <a:ln/>
        </p:spPr>
        <p:txBody>
          <a:bodyPr wrap="square" lIns="0" tIns="0" rIns="0" bIns="0" rtlCol="0" anchor="ctr"/>
          <a:lstStyle/>
          <a:p>
            <a:pPr indent="0" marL="0">
              <a:buNone/>
            </a:pPr>
            <a:r>
              <a:rPr lang="en-US" sz="1500" dirty="0">
                <a:solidFill>
                  <a:schemeClr val="tx1"/>
                </a:solidFill>
              </a:rPr>
              <a:t>pasos de simulación en las piezas 1, 2 y 4</a:t>
            </a:r>
            <a:endParaRPr lang="en-US" sz="1500" dirty="0"/>
          </a:p>
        </p:txBody>
      </p:sp>
      <p:sp>
        <p:nvSpPr>
          <p:cNvPr id="21" name="Prueba cifra 2"/>
          <p:cNvSpPr txBox="1"/>
          <p:nvPr/>
        </p:nvSpPr>
        <p:spPr>
          <a:xfrm>
            <a:off x="7223760" y="3995928"/>
            <a:ext cx="2011680" cy="777240"/>
          </a:xfrm>
          <a:prstGeom prst="rect">
            <a:avLst/>
          </a:prstGeom>
          <a:noFill/>
          <a:ln/>
        </p:spPr>
        <p:txBody>
          <a:bodyPr wrap="square" lIns="0" tIns="0" rIns="0" bIns="0" rtlCol="0" anchor="ctr"/>
          <a:lstStyle/>
          <a:p>
            <a:pPr indent="0" marL="0">
              <a:buNone/>
            </a:pPr>
            <a:r>
              <a:rPr lang="en-US" sz="3600" b="1" dirty="0">
                <a:solidFill>
                  <a:schemeClr val="tx2"/>
                </a:solidFill>
                <a:latin typeface="Arial" pitchFamily="34" charset="0"/>
                <a:ea typeface="Arial" pitchFamily="34" charset="-122"/>
                <a:cs typeface="Arial" pitchFamily="34" charset="-120"/>
              </a:rPr>
              <a:t>32 de 32</a:t>
            </a:r>
            <a:endParaRPr lang="en-US" sz="3600" dirty="0"/>
          </a:p>
        </p:txBody>
      </p:sp>
      <p:sp>
        <p:nvSpPr>
          <p:cNvPr id="22" name="Prueba texto 2"/>
          <p:cNvSpPr txBox="1"/>
          <p:nvPr/>
        </p:nvSpPr>
        <p:spPr>
          <a:xfrm>
            <a:off x="9281160" y="3995928"/>
            <a:ext cx="2377440" cy="777240"/>
          </a:xfrm>
          <a:prstGeom prst="rect">
            <a:avLst/>
          </a:prstGeom>
          <a:noFill/>
          <a:ln/>
        </p:spPr>
        <p:txBody>
          <a:bodyPr wrap="square" lIns="0" tIns="0" rIns="0" bIns="0" rtlCol="0" anchor="ctr"/>
          <a:lstStyle/>
          <a:p>
            <a:pPr indent="0" marL="0">
              <a:buNone/>
            </a:pPr>
            <a:r>
              <a:rPr lang="en-US" sz="1500" dirty="0">
                <a:solidFill>
                  <a:schemeClr val="tx1"/>
                </a:solidFill>
              </a:rPr>
              <a:t>combinaciones de CO2 correctas en la Pieza 3</a:t>
            </a:r>
            <a:endParaRPr lang="en-US" sz="1500" dirty="0"/>
          </a:p>
        </p:txBody>
      </p:sp>
      <p:sp>
        <p:nvSpPr>
          <p:cNvPr id="23" name="Prueba cifra 3"/>
          <p:cNvSpPr txBox="1"/>
          <p:nvPr/>
        </p:nvSpPr>
        <p:spPr>
          <a:xfrm>
            <a:off x="7223760" y="5020056"/>
            <a:ext cx="2011680" cy="777240"/>
          </a:xfrm>
          <a:prstGeom prst="rect">
            <a:avLst/>
          </a:prstGeom>
          <a:noFill/>
          <a:ln/>
        </p:spPr>
        <p:txBody>
          <a:bodyPr wrap="square" lIns="0" tIns="0" rIns="0" bIns="0" rtlCol="0" anchor="ctr"/>
          <a:lstStyle/>
          <a:p>
            <a:pPr indent="0" marL="0">
              <a:buNone/>
            </a:pPr>
            <a:r>
              <a:rPr lang="en-US" sz="3600" b="1" dirty="0">
                <a:solidFill>
                  <a:schemeClr val="accent3"/>
                </a:solidFill>
                <a:latin typeface="Arial" pitchFamily="34" charset="0"/>
                <a:ea typeface="Arial" pitchFamily="34" charset="-122"/>
                <a:cs typeface="Arial" pitchFamily="34" charset="-120"/>
              </a:rPr>
              <a:t>0</a:t>
            </a:r>
            <a:endParaRPr lang="en-US" sz="3600" dirty="0"/>
          </a:p>
        </p:txBody>
      </p:sp>
      <p:sp>
        <p:nvSpPr>
          <p:cNvPr id="24" name="Prueba texto 3"/>
          <p:cNvSpPr txBox="1"/>
          <p:nvPr/>
        </p:nvSpPr>
        <p:spPr>
          <a:xfrm>
            <a:off x="9281160" y="5020056"/>
            <a:ext cx="2377440" cy="777240"/>
          </a:xfrm>
          <a:prstGeom prst="rect">
            <a:avLst/>
          </a:prstGeom>
          <a:noFill/>
          <a:ln/>
        </p:spPr>
        <p:txBody>
          <a:bodyPr wrap="square" lIns="0" tIns="0" rIns="0" bIns="0" rtlCol="0" anchor="ctr"/>
          <a:lstStyle/>
          <a:p>
            <a:pPr indent="0" marL="0">
              <a:buNone/>
            </a:pPr>
            <a:r>
              <a:rPr lang="en-US" sz="1500" dirty="0">
                <a:solidFill>
                  <a:schemeClr val="tx1"/>
                </a:solidFill>
              </a:rPr>
              <a:t>errores en las pruebas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Pieza 4: un solo reloj y sensores limpios</a:t>
            </a:r>
            <a:endParaRPr lang="en-US" sz="3200" dirty="0"/>
          </a:p>
        </p:txBody>
      </p:sp>
      <p:pic>
        <p:nvPicPr>
          <p:cNvPr id="3" name="Circuito acondicionador" descr="/home/claude/park/site/img/pi_acond_se.png">    </p:cNvPr>
          <p:cNvPicPr>
            <a:picLocks noChangeAspect="1"/>
          </p:cNvPicPr>
          <p:nvPr/>
        </p:nvPicPr>
        <p:blipFill>
          <a:blip r:embed="rId1"/>
          <a:stretch>
            <a:fillRect/>
          </a:stretch>
        </p:blipFill>
        <p:spPr>
          <a:xfrm>
            <a:off x="548640" y="1325880"/>
            <a:ext cx="11064240" cy="2962656"/>
          </a:xfrm>
          <a:prstGeom prst="rect">
            <a:avLst/>
          </a:prstGeom>
        </p:spPr>
      </p:pic>
      <p:sp>
        <p:nvSpPr>
          <p:cNvPr id="4" name="Etapa 1"/>
          <p:cNvSpPr/>
          <p:nvPr/>
        </p:nvSpPr>
        <p:spPr>
          <a:xfrm>
            <a:off x="548640" y="4572000"/>
            <a:ext cx="3520440" cy="1508760"/>
          </a:xfrm>
          <a:prstGeom prst="roundRect">
            <a:avLst>
              <a:gd name="adj" fmla="val 4848"/>
            </a:avLst>
          </a:prstGeom>
          <a:solidFill>
            <a:schemeClr val="bg2"/>
          </a:solidFill>
          <a:ln w="12700">
            <a:solidFill>
              <a:schemeClr val="bg2"/>
            </a:solidFill>
            <a:prstDash val="solid"/>
          </a:ln>
        </p:spPr>
      </p:sp>
      <p:sp>
        <p:nvSpPr>
          <p:cNvPr id="5" name="Círculo etapa 1"/>
          <p:cNvSpPr/>
          <p:nvPr/>
        </p:nvSpPr>
        <p:spPr>
          <a:xfrm>
            <a:off x="777240" y="4800600"/>
            <a:ext cx="548640" cy="548640"/>
          </a:xfrm>
          <a:prstGeom prst="ellipse">
            <a:avLst/>
          </a:prstGeom>
          <a:solidFill>
            <a:schemeClr val="accent1"/>
          </a:solidFill>
          <a:ln w="12700">
            <a:solidFill>
              <a:schemeClr val="accent1"/>
            </a:solidFill>
            <a:prstDash val="solid"/>
          </a:ln>
        </p:spPr>
      </p:sp>
      <p:sp>
        <p:nvSpPr>
          <p:cNvPr id="6" name="Número etapa 1"/>
          <p:cNvSpPr txBox="1"/>
          <p:nvPr/>
        </p:nvSpPr>
        <p:spPr>
          <a:xfrm>
            <a:off x="777240" y="48006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7" name="Título etapa 1"/>
          <p:cNvSpPr txBox="1"/>
          <p:nvPr/>
        </p:nvSpPr>
        <p:spPr>
          <a:xfrm>
            <a:off x="1508760" y="4754880"/>
            <a:ext cx="2423160" cy="411480"/>
          </a:xfrm>
          <a:prstGeom prst="rect">
            <a:avLst/>
          </a:prstGeom>
          <a:noFill/>
          <a:ln/>
        </p:spPr>
        <p:txBody>
          <a:bodyPr wrap="square" lIns="0" tIns="0" rIns="0" bIns="0" rtlCol="0" anchor="ctr"/>
          <a:lstStyle/>
          <a:p>
            <a:pPr indent="0" marL="0">
              <a:buNone/>
            </a:pPr>
            <a:r>
              <a:rPr lang="en-US" sz="1800" b="1" dirty="0">
                <a:solidFill>
                  <a:schemeClr val="tx1"/>
                </a:solidFill>
              </a:rPr>
              <a:t>Latch SR con NAND</a:t>
            </a:r>
            <a:endParaRPr lang="en-US" sz="1800" dirty="0"/>
          </a:p>
        </p:txBody>
      </p:sp>
      <p:sp>
        <p:nvSpPr>
          <p:cNvPr id="8" name="Texto etapa 1"/>
          <p:cNvSpPr txBox="1"/>
          <p:nvPr/>
        </p:nvSpPr>
        <p:spPr>
          <a:xfrm>
            <a:off x="1508760" y="5193792"/>
            <a:ext cx="2423160" cy="777240"/>
          </a:xfrm>
          <a:prstGeom prst="rect">
            <a:avLst/>
          </a:prstGeom>
          <a:noFill/>
          <a:ln/>
        </p:spPr>
        <p:txBody>
          <a:bodyPr wrap="square" lIns="0" tIns="0" rIns="0" bIns="0" rtlCol="0" anchor="t"/>
          <a:lstStyle/>
          <a:p>
            <a:pPr indent="0" marL="0">
              <a:buNone/>
            </a:pPr>
            <a:r>
              <a:rPr lang="en-US" sz="1500" dirty="0">
                <a:solidFill>
                  <a:schemeClr val="tx1"/>
                </a:solidFill>
              </a:rPr>
              <a:t>Elimina los rebotes del sensor.</a:t>
            </a:r>
            <a:endParaRPr lang="en-US" sz="1500" dirty="0"/>
          </a:p>
        </p:txBody>
      </p:sp>
      <p:sp>
        <p:nvSpPr>
          <p:cNvPr id="9" name="Etapa 2"/>
          <p:cNvSpPr/>
          <p:nvPr/>
        </p:nvSpPr>
        <p:spPr>
          <a:xfrm>
            <a:off x="4320540" y="4572000"/>
            <a:ext cx="3520440" cy="1508760"/>
          </a:xfrm>
          <a:prstGeom prst="roundRect">
            <a:avLst>
              <a:gd name="adj" fmla="val 4848"/>
            </a:avLst>
          </a:prstGeom>
          <a:solidFill>
            <a:schemeClr val="bg2"/>
          </a:solidFill>
          <a:ln w="12700">
            <a:solidFill>
              <a:schemeClr val="bg2"/>
            </a:solidFill>
            <a:prstDash val="solid"/>
          </a:ln>
        </p:spPr>
      </p:sp>
      <p:sp>
        <p:nvSpPr>
          <p:cNvPr id="10" name="Círculo etapa 2"/>
          <p:cNvSpPr/>
          <p:nvPr/>
        </p:nvSpPr>
        <p:spPr>
          <a:xfrm>
            <a:off x="4549140" y="4800600"/>
            <a:ext cx="548640" cy="548640"/>
          </a:xfrm>
          <a:prstGeom prst="ellipse">
            <a:avLst/>
          </a:prstGeom>
          <a:solidFill>
            <a:schemeClr val="accent1"/>
          </a:solidFill>
          <a:ln w="12700">
            <a:solidFill>
              <a:schemeClr val="accent1"/>
            </a:solidFill>
            <a:prstDash val="solid"/>
          </a:ln>
        </p:spPr>
      </p:sp>
      <p:sp>
        <p:nvSpPr>
          <p:cNvPr id="11" name="Número etapa 2"/>
          <p:cNvSpPr txBox="1"/>
          <p:nvPr/>
        </p:nvSpPr>
        <p:spPr>
          <a:xfrm>
            <a:off x="4549140" y="48006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2" name="Título etapa 2"/>
          <p:cNvSpPr txBox="1"/>
          <p:nvPr/>
        </p:nvSpPr>
        <p:spPr>
          <a:xfrm>
            <a:off x="5280660" y="4754880"/>
            <a:ext cx="2423160" cy="411480"/>
          </a:xfrm>
          <a:prstGeom prst="rect">
            <a:avLst/>
          </a:prstGeom>
          <a:noFill/>
          <a:ln/>
        </p:spPr>
        <p:txBody>
          <a:bodyPr wrap="square" lIns="0" tIns="0" rIns="0" bIns="0" rtlCol="0" anchor="ctr"/>
          <a:lstStyle/>
          <a:p>
            <a:pPr indent="0" marL="0">
              <a:buNone/>
            </a:pPr>
            <a:r>
              <a:rPr lang="en-US" sz="1800" b="1" dirty="0">
                <a:solidFill>
                  <a:schemeClr val="tx1"/>
                </a:solidFill>
              </a:rPr>
              <a:t>Flip-flop A</a:t>
            </a:r>
            <a:endParaRPr lang="en-US" sz="1800" dirty="0"/>
          </a:p>
        </p:txBody>
      </p:sp>
      <p:sp>
        <p:nvSpPr>
          <p:cNvPr id="13" name="Texto etapa 2"/>
          <p:cNvSpPr txBox="1"/>
          <p:nvPr/>
        </p:nvSpPr>
        <p:spPr>
          <a:xfrm>
            <a:off x="5280660" y="5193792"/>
            <a:ext cx="2423160" cy="777240"/>
          </a:xfrm>
          <a:prstGeom prst="rect">
            <a:avLst/>
          </a:prstGeom>
          <a:noFill/>
          <a:ln/>
        </p:spPr>
        <p:txBody>
          <a:bodyPr wrap="square" lIns="0" tIns="0" rIns="0" bIns="0" rtlCol="0" anchor="t"/>
          <a:lstStyle/>
          <a:p>
            <a:pPr indent="0" marL="0">
              <a:buNone/>
            </a:pPr>
            <a:r>
              <a:rPr lang="en-US" sz="1500" dirty="0">
                <a:solidFill>
                  <a:schemeClr val="tx1"/>
                </a:solidFill>
              </a:rPr>
              <a:t>Sincroniza la señal con CLKSINC.</a:t>
            </a:r>
            <a:endParaRPr lang="en-US" sz="1500" dirty="0"/>
          </a:p>
        </p:txBody>
      </p:sp>
      <p:sp>
        <p:nvSpPr>
          <p:cNvPr id="14" name="Etapa 3"/>
          <p:cNvSpPr/>
          <p:nvPr/>
        </p:nvSpPr>
        <p:spPr>
          <a:xfrm>
            <a:off x="8092440" y="4572000"/>
            <a:ext cx="3520440" cy="1508760"/>
          </a:xfrm>
          <a:prstGeom prst="roundRect">
            <a:avLst>
              <a:gd name="adj" fmla="val 4848"/>
            </a:avLst>
          </a:prstGeom>
          <a:solidFill>
            <a:schemeClr val="bg2"/>
          </a:solidFill>
          <a:ln w="12700">
            <a:solidFill>
              <a:schemeClr val="bg2"/>
            </a:solidFill>
            <a:prstDash val="solid"/>
          </a:ln>
        </p:spPr>
      </p:sp>
      <p:sp>
        <p:nvSpPr>
          <p:cNvPr id="15" name="Círculo etapa 3"/>
          <p:cNvSpPr/>
          <p:nvPr/>
        </p:nvSpPr>
        <p:spPr>
          <a:xfrm>
            <a:off x="8321040" y="4800600"/>
            <a:ext cx="548640" cy="548640"/>
          </a:xfrm>
          <a:prstGeom prst="ellipse">
            <a:avLst/>
          </a:prstGeom>
          <a:solidFill>
            <a:schemeClr val="accent1"/>
          </a:solidFill>
          <a:ln w="12700">
            <a:solidFill>
              <a:schemeClr val="accent1"/>
            </a:solidFill>
            <a:prstDash val="solid"/>
          </a:ln>
        </p:spPr>
      </p:sp>
      <p:sp>
        <p:nvSpPr>
          <p:cNvPr id="16" name="Número etapa 3"/>
          <p:cNvSpPr txBox="1"/>
          <p:nvPr/>
        </p:nvSpPr>
        <p:spPr>
          <a:xfrm>
            <a:off x="8321040" y="48006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7" name="Título etapa 3"/>
          <p:cNvSpPr txBox="1"/>
          <p:nvPr/>
        </p:nvSpPr>
        <p:spPr>
          <a:xfrm>
            <a:off x="9052560" y="4754880"/>
            <a:ext cx="2423160" cy="411480"/>
          </a:xfrm>
          <a:prstGeom prst="rect">
            <a:avLst/>
          </a:prstGeom>
          <a:noFill/>
          <a:ln/>
        </p:spPr>
        <p:txBody>
          <a:bodyPr wrap="square" lIns="0" tIns="0" rIns="0" bIns="0" rtlCol="0" anchor="ctr"/>
          <a:lstStyle/>
          <a:p>
            <a:pPr indent="0" marL="0">
              <a:buNone/>
            </a:pPr>
            <a:r>
              <a:rPr lang="en-US" sz="1800" b="1" dirty="0">
                <a:solidFill>
                  <a:schemeClr val="tx1"/>
                </a:solidFill>
              </a:rPr>
              <a:t>Flip-flop B + AND</a:t>
            </a:r>
            <a:endParaRPr lang="en-US" sz="1800" dirty="0"/>
          </a:p>
        </p:txBody>
      </p:sp>
      <p:sp>
        <p:nvSpPr>
          <p:cNvPr id="18" name="Texto etapa 3"/>
          <p:cNvSpPr txBox="1"/>
          <p:nvPr/>
        </p:nvSpPr>
        <p:spPr>
          <a:xfrm>
            <a:off x="9052560" y="5193792"/>
            <a:ext cx="2423160" cy="777240"/>
          </a:xfrm>
          <a:prstGeom prst="rect">
            <a:avLst/>
          </a:prstGeom>
          <a:noFill/>
          <a:ln/>
        </p:spPr>
        <p:txBody>
          <a:bodyPr wrap="square" lIns="0" tIns="0" rIns="0" bIns="0" rtlCol="0" anchor="t"/>
          <a:lstStyle/>
          <a:p>
            <a:pPr indent="0" marL="0">
              <a:buNone/>
            </a:pPr>
            <a:r>
              <a:rPr lang="en-US" sz="1500" dirty="0">
                <a:solidFill>
                  <a:schemeClr val="tx1"/>
                </a:solidFill>
              </a:rPr>
              <a:t>Genera un pulso de un ciclo: cada carro cuenta una vez.</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Pieza 1: contador de 0 a 12</a:t>
            </a:r>
            <a:endParaRPr lang="en-US" sz="3200" dirty="0"/>
          </a:p>
        </p:txBody>
      </p:sp>
      <p:pic>
        <p:nvPicPr>
          <p:cNvPr id="3" name="Diagrama de estados Pieza 1" descr="/home/claude/park/site/img/p1_estados.png">    </p:cNvPr>
          <p:cNvPicPr>
            <a:picLocks noChangeAspect="1"/>
          </p:cNvPicPr>
          <p:nvPr/>
        </p:nvPicPr>
        <p:blipFill>
          <a:blip r:embed="rId1"/>
          <a:stretch>
            <a:fillRect/>
          </a:stretch>
        </p:blipFill>
        <p:spPr>
          <a:xfrm>
            <a:off x="548640" y="1325880"/>
            <a:ext cx="5760720" cy="4791456"/>
          </a:xfrm>
          <a:prstGeom prst="rect">
            <a:avLst/>
          </a:prstGeom>
        </p:spPr>
      </p:pic>
      <p:sp>
        <p:nvSpPr>
          <p:cNvPr id="4" name="Ecuación Parqueo lleno"/>
          <p:cNvSpPr/>
          <p:nvPr/>
        </p:nvSpPr>
        <p:spPr>
          <a:xfrm>
            <a:off x="6675120" y="1371600"/>
            <a:ext cx="4965192" cy="1051560"/>
          </a:xfrm>
          <a:prstGeom prst="roundRect">
            <a:avLst>
              <a:gd name="adj" fmla="val 6957"/>
            </a:avLst>
          </a:prstGeom>
          <a:solidFill>
            <a:schemeClr val="bg2"/>
          </a:solidFill>
          <a:ln w="12700">
            <a:solidFill>
              <a:schemeClr val="bg2"/>
            </a:solidFill>
            <a:prstDash val="solid"/>
          </a:ln>
        </p:spPr>
      </p:sp>
      <p:sp>
        <p:nvSpPr>
          <p:cNvPr id="5" name="Etiqueta Parqueo lleno"/>
          <p:cNvSpPr txBox="1"/>
          <p:nvPr/>
        </p:nvSpPr>
        <p:spPr>
          <a:xfrm>
            <a:off x="6903720" y="1463040"/>
            <a:ext cx="4572000" cy="256032"/>
          </a:xfrm>
          <a:prstGeom prst="rect">
            <a:avLst/>
          </a:prstGeom>
          <a:noFill/>
          <a:ln/>
        </p:spPr>
        <p:txBody>
          <a:bodyPr wrap="square" lIns="0" tIns="0" rIns="0" bIns="0" rtlCol="0" anchor="ctr"/>
          <a:lstStyle/>
          <a:p>
            <a:pPr indent="0" marL="0">
              <a:buNone/>
            </a:pPr>
            <a:r>
              <a:rPr lang="en-US" sz="1100" b="1" spc="200" kern="0" dirty="0">
                <a:solidFill>
                  <a:schemeClr val="accent6"/>
                </a:solidFill>
              </a:rPr>
              <a:t>PARQUEO LLENO</a:t>
            </a:r>
            <a:endParaRPr lang="en-US" sz="1100" dirty="0"/>
          </a:p>
        </p:txBody>
      </p:sp>
      <p:sp>
        <p:nvSpPr>
          <p:cNvPr id="6" name="Fórmula Parqueo lleno"/>
          <p:cNvSpPr txBox="1"/>
          <p:nvPr/>
        </p:nvSpPr>
        <p:spPr>
          <a:xfrm>
            <a:off x="6903720" y="1700784"/>
            <a:ext cx="4572000" cy="41148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LLENO = Q3·Q2</a:t>
            </a:r>
            <a:endParaRPr lang="en-US" sz="2200" dirty="0"/>
          </a:p>
        </p:txBody>
      </p:sp>
      <p:sp>
        <p:nvSpPr>
          <p:cNvPr id="7" name="Detalle Parqueo lleno"/>
          <p:cNvSpPr txBox="1"/>
          <p:nvPr/>
        </p:nvSpPr>
        <p:spPr>
          <a:xfrm>
            <a:off x="6903720" y="2103120"/>
            <a:ext cx="4572000" cy="274320"/>
          </a:xfrm>
          <a:prstGeom prst="rect">
            <a:avLst/>
          </a:prstGeom>
          <a:noFill/>
          <a:ln/>
        </p:spPr>
        <p:txBody>
          <a:bodyPr wrap="square" lIns="0" tIns="0" rIns="0" bIns="0" rtlCol="0" anchor="ctr"/>
          <a:lstStyle/>
          <a:p>
            <a:pPr indent="0" marL="0">
              <a:buNone/>
            </a:pPr>
            <a:r>
              <a:rPr lang="en-US" sz="1400" dirty="0">
                <a:solidFill>
                  <a:schemeClr val="tx1"/>
                </a:solidFill>
              </a:rPr>
              <a:t>12 = 1100 en binario</a:t>
            </a:r>
            <a:endParaRPr lang="en-US" sz="1400" dirty="0"/>
          </a:p>
        </p:txBody>
      </p:sp>
      <p:sp>
        <p:nvSpPr>
          <p:cNvPr id="8" name="Ecuación Talanquera"/>
          <p:cNvSpPr/>
          <p:nvPr/>
        </p:nvSpPr>
        <p:spPr>
          <a:xfrm>
            <a:off x="6675120" y="2560320"/>
            <a:ext cx="4965192" cy="1051560"/>
          </a:xfrm>
          <a:prstGeom prst="roundRect">
            <a:avLst>
              <a:gd name="adj" fmla="val 6957"/>
            </a:avLst>
          </a:prstGeom>
          <a:solidFill>
            <a:schemeClr val="bg2"/>
          </a:solidFill>
          <a:ln w="12700">
            <a:solidFill>
              <a:schemeClr val="bg2"/>
            </a:solidFill>
            <a:prstDash val="solid"/>
          </a:ln>
        </p:spPr>
      </p:sp>
      <p:sp>
        <p:nvSpPr>
          <p:cNvPr id="9" name="Etiqueta Talanquera"/>
          <p:cNvSpPr txBox="1"/>
          <p:nvPr/>
        </p:nvSpPr>
        <p:spPr>
          <a:xfrm>
            <a:off x="6903720" y="2651760"/>
            <a:ext cx="4572000" cy="256032"/>
          </a:xfrm>
          <a:prstGeom prst="rect">
            <a:avLst/>
          </a:prstGeom>
          <a:noFill/>
          <a:ln/>
        </p:spPr>
        <p:txBody>
          <a:bodyPr wrap="square" lIns="0" tIns="0" rIns="0" bIns="0" rtlCol="0" anchor="ctr"/>
          <a:lstStyle/>
          <a:p>
            <a:pPr indent="0" marL="0">
              <a:buNone/>
            </a:pPr>
            <a:r>
              <a:rPr lang="en-US" sz="1100" b="1" spc="200" kern="0" dirty="0">
                <a:solidFill>
                  <a:schemeClr val="accent6"/>
                </a:solidFill>
              </a:rPr>
              <a:t>TALANQUERA</a:t>
            </a:r>
            <a:endParaRPr lang="en-US" sz="1100" dirty="0"/>
          </a:p>
        </p:txBody>
      </p:sp>
      <p:sp>
        <p:nvSpPr>
          <p:cNvPr id="10" name="Fórmula Talanquera"/>
          <p:cNvSpPr txBox="1"/>
          <p:nvPr/>
        </p:nvSpPr>
        <p:spPr>
          <a:xfrm>
            <a:off x="6903720" y="2889504"/>
            <a:ext cx="4572000" cy="41148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ME = SE·LLENO'</a:t>
            </a:r>
            <a:endParaRPr lang="en-US" sz="2200" dirty="0"/>
          </a:p>
        </p:txBody>
      </p:sp>
      <p:sp>
        <p:nvSpPr>
          <p:cNvPr id="11" name="Detalle Talanquera"/>
          <p:cNvSpPr txBox="1"/>
          <p:nvPr/>
        </p:nvSpPr>
        <p:spPr>
          <a:xfrm>
            <a:off x="6903720" y="3291840"/>
            <a:ext cx="4572000" cy="274320"/>
          </a:xfrm>
          <a:prstGeom prst="rect">
            <a:avLst/>
          </a:prstGeom>
          <a:noFill/>
          <a:ln/>
        </p:spPr>
        <p:txBody>
          <a:bodyPr wrap="square" lIns="0" tIns="0" rIns="0" bIns="0" rtlCol="0" anchor="ctr"/>
          <a:lstStyle/>
          <a:p>
            <a:pPr indent="0" marL="0">
              <a:buNone/>
            </a:pPr>
            <a:r>
              <a:rPr lang="en-US" sz="1400" dirty="0">
                <a:solidFill>
                  <a:schemeClr val="tx1"/>
                </a:solidFill>
              </a:rPr>
              <a:t>Abre si hay carro y no está lleno</a:t>
            </a:r>
            <a:endParaRPr lang="en-US" sz="1400" dirty="0"/>
          </a:p>
        </p:txBody>
      </p:sp>
      <p:sp>
        <p:nvSpPr>
          <p:cNvPr id="12" name="Ecuación Retención"/>
          <p:cNvSpPr/>
          <p:nvPr/>
        </p:nvSpPr>
        <p:spPr>
          <a:xfrm>
            <a:off x="6675120" y="3749040"/>
            <a:ext cx="4965192" cy="1051560"/>
          </a:xfrm>
          <a:prstGeom prst="roundRect">
            <a:avLst>
              <a:gd name="adj" fmla="val 6957"/>
            </a:avLst>
          </a:prstGeom>
          <a:solidFill>
            <a:schemeClr val="bg2"/>
          </a:solidFill>
          <a:ln w="12700">
            <a:solidFill>
              <a:schemeClr val="bg2"/>
            </a:solidFill>
            <a:prstDash val="solid"/>
          </a:ln>
        </p:spPr>
      </p:sp>
      <p:sp>
        <p:nvSpPr>
          <p:cNvPr id="13" name="Etiqueta Retención"/>
          <p:cNvSpPr txBox="1"/>
          <p:nvPr/>
        </p:nvSpPr>
        <p:spPr>
          <a:xfrm>
            <a:off x="6903720" y="3840480"/>
            <a:ext cx="4572000" cy="256032"/>
          </a:xfrm>
          <a:prstGeom prst="rect">
            <a:avLst/>
          </a:prstGeom>
          <a:noFill/>
          <a:ln/>
        </p:spPr>
        <p:txBody>
          <a:bodyPr wrap="square" lIns="0" tIns="0" rIns="0" bIns="0" rtlCol="0" anchor="ctr"/>
          <a:lstStyle/>
          <a:p>
            <a:pPr indent="0" marL="0">
              <a:buNone/>
            </a:pPr>
            <a:r>
              <a:rPr lang="en-US" sz="1100" b="1" spc="200" kern="0" dirty="0">
                <a:solidFill>
                  <a:schemeClr val="accent6"/>
                </a:solidFill>
              </a:rPr>
              <a:t>RETENCIÓN</a:t>
            </a:r>
            <a:endParaRPr lang="en-US" sz="1100" dirty="0"/>
          </a:p>
        </p:txBody>
      </p:sp>
      <p:sp>
        <p:nvSpPr>
          <p:cNvPr id="14" name="Fórmula Retención"/>
          <p:cNvSpPr txBox="1"/>
          <p:nvPr/>
        </p:nvSpPr>
        <p:spPr>
          <a:xfrm>
            <a:off x="6903720" y="4078224"/>
            <a:ext cx="4572000" cy="41148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D = EN·F + EN'·Q</a:t>
            </a:r>
            <a:endParaRPr lang="en-US" sz="2200" dirty="0"/>
          </a:p>
        </p:txBody>
      </p:sp>
      <p:sp>
        <p:nvSpPr>
          <p:cNvPr id="15" name="Detalle Retención"/>
          <p:cNvSpPr txBox="1"/>
          <p:nvPr/>
        </p:nvSpPr>
        <p:spPr>
          <a:xfrm>
            <a:off x="6903720" y="4480560"/>
            <a:ext cx="4572000" cy="274320"/>
          </a:xfrm>
          <a:prstGeom prst="rect">
            <a:avLst/>
          </a:prstGeom>
          <a:noFill/>
          <a:ln/>
        </p:spPr>
        <p:txBody>
          <a:bodyPr wrap="square" lIns="0" tIns="0" rIns="0" bIns="0" rtlCol="0" anchor="ctr"/>
          <a:lstStyle/>
          <a:p>
            <a:pPr indent="0" marL="0">
              <a:buNone/>
            </a:pPr>
            <a:r>
              <a:rPr lang="en-US" sz="1400" dirty="0">
                <a:solidFill>
                  <a:schemeClr val="tx1"/>
                </a:solidFill>
              </a:rPr>
              <a:t>Sin evento, el contador no cambia</a:t>
            </a:r>
            <a:endParaRPr lang="en-US" sz="1400" dirty="0"/>
          </a:p>
        </p:txBody>
      </p:sp>
      <p:sp>
        <p:nvSpPr>
          <p:cNvPr id="16" name="Ecuación Display hexadecimal"/>
          <p:cNvSpPr/>
          <p:nvPr/>
        </p:nvSpPr>
        <p:spPr>
          <a:xfrm>
            <a:off x="6675120" y="4937760"/>
            <a:ext cx="4965192" cy="1051560"/>
          </a:xfrm>
          <a:prstGeom prst="roundRect">
            <a:avLst>
              <a:gd name="adj" fmla="val 6957"/>
            </a:avLst>
          </a:prstGeom>
          <a:solidFill>
            <a:schemeClr val="bg2"/>
          </a:solidFill>
          <a:ln w="12700">
            <a:solidFill>
              <a:schemeClr val="bg2"/>
            </a:solidFill>
            <a:prstDash val="solid"/>
          </a:ln>
        </p:spPr>
      </p:sp>
      <p:sp>
        <p:nvSpPr>
          <p:cNvPr id="17" name="Etiqueta Display hexadecimal"/>
          <p:cNvSpPr txBox="1"/>
          <p:nvPr/>
        </p:nvSpPr>
        <p:spPr>
          <a:xfrm>
            <a:off x="6903720" y="5029200"/>
            <a:ext cx="4572000" cy="256032"/>
          </a:xfrm>
          <a:prstGeom prst="rect">
            <a:avLst/>
          </a:prstGeom>
          <a:noFill/>
          <a:ln/>
        </p:spPr>
        <p:txBody>
          <a:bodyPr wrap="square" lIns="0" tIns="0" rIns="0" bIns="0" rtlCol="0" anchor="ctr"/>
          <a:lstStyle/>
          <a:p>
            <a:pPr indent="0" marL="0">
              <a:buNone/>
            </a:pPr>
            <a:r>
              <a:rPr lang="en-US" sz="1100" b="1" spc="200" kern="0" dirty="0">
                <a:solidFill>
                  <a:schemeClr val="accent6"/>
                </a:solidFill>
              </a:rPr>
              <a:t>DISPLAY HEXADECIMAL</a:t>
            </a:r>
            <a:endParaRPr lang="en-US" sz="1100" dirty="0"/>
          </a:p>
        </p:txBody>
      </p:sp>
      <p:sp>
        <p:nvSpPr>
          <p:cNvPr id="18" name="Fórmula Display hexadecimal"/>
          <p:cNvSpPr txBox="1"/>
          <p:nvPr/>
        </p:nvSpPr>
        <p:spPr>
          <a:xfrm>
            <a:off x="6903720" y="5266944"/>
            <a:ext cx="4572000" cy="41148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10 · 11 · 12  →  A · b · C</a:t>
            </a:r>
            <a:endParaRPr lang="en-US" sz="2200" dirty="0"/>
          </a:p>
        </p:txBody>
      </p:sp>
      <p:sp>
        <p:nvSpPr>
          <p:cNvPr id="19" name="Detalle Display hexadecimal"/>
          <p:cNvSpPr txBox="1"/>
          <p:nvPr/>
        </p:nvSpPr>
        <p:spPr>
          <a:xfrm>
            <a:off x="6903720" y="5669280"/>
            <a:ext cx="4572000" cy="274320"/>
          </a:xfrm>
          <a:prstGeom prst="rect">
            <a:avLst/>
          </a:prstGeom>
          <a:noFill/>
          <a:ln/>
        </p:spPr>
        <p:txBody>
          <a:bodyPr wrap="square" lIns="0" tIns="0" rIns="0" bIns="0" rtlCol="0" anchor="ctr"/>
          <a:lstStyle/>
          <a:p>
            <a:pPr indent="0" marL="0">
              <a:buNone/>
            </a:pPr>
            <a:r>
              <a:rPr lang="en-US" sz="1400" dirty="0">
                <a:solidFill>
                  <a:schemeClr val="tx1"/>
                </a:solidFill>
              </a:rPr>
              <a:t>4 flip-flops D para 13 estados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Pieza 2: niveles, semáforos y tablero</a:t>
            </a:r>
            <a:endParaRPr lang="en-US" sz="3200" dirty="0"/>
          </a:p>
        </p:txBody>
      </p:sp>
      <p:pic>
        <p:nvPicPr>
          <p:cNvPr id="3" name="Circuito Pieza 2" descr="/home/claude/park/site/img/pi_pieza2.png">    </p:cNvPr>
          <p:cNvPicPr>
            <a:picLocks noChangeAspect="1"/>
          </p:cNvPicPr>
          <p:nvPr/>
        </p:nvPicPr>
        <p:blipFill>
          <a:blip r:embed="rId1"/>
          <a:stretch>
            <a:fillRect/>
          </a:stretch>
        </p:blipFill>
        <p:spPr>
          <a:xfrm>
            <a:off x="1298448" y="1280160"/>
            <a:ext cx="9601200" cy="3749040"/>
          </a:xfrm>
          <a:prstGeom prst="rect">
            <a:avLst/>
          </a:prstGeom>
        </p:spPr>
      </p:pic>
      <p:sp>
        <p:nvSpPr>
          <p:cNvPr id="4" name="Regla Verde"/>
          <p:cNvSpPr/>
          <p:nvPr/>
        </p:nvSpPr>
        <p:spPr>
          <a:xfrm>
            <a:off x="548640" y="5257800"/>
            <a:ext cx="3520440" cy="914400"/>
          </a:xfrm>
          <a:prstGeom prst="roundRect">
            <a:avLst>
              <a:gd name="adj" fmla="val 8000"/>
            </a:avLst>
          </a:prstGeom>
          <a:solidFill>
            <a:schemeClr val="bg2"/>
          </a:solidFill>
          <a:ln w="12700">
            <a:solidFill>
              <a:schemeClr val="bg2"/>
            </a:solidFill>
            <a:prstDash val="solid"/>
          </a:ln>
        </p:spPr>
      </p:sp>
      <p:sp>
        <p:nvSpPr>
          <p:cNvPr id="5" name="Luz Verde"/>
          <p:cNvSpPr/>
          <p:nvPr/>
        </p:nvSpPr>
        <p:spPr>
          <a:xfrm>
            <a:off x="777240" y="5577840"/>
            <a:ext cx="274320" cy="274320"/>
          </a:xfrm>
          <a:prstGeom prst="ellipse">
            <a:avLst/>
          </a:prstGeom>
          <a:solidFill>
            <a:schemeClr val="accent3"/>
          </a:solidFill>
          <a:ln w="12700">
            <a:solidFill>
              <a:schemeClr val="accent3"/>
            </a:solidFill>
            <a:prstDash val="solid"/>
          </a:ln>
        </p:spPr>
      </p:sp>
      <p:sp>
        <p:nvSpPr>
          <p:cNvPr id="6" name="Texto regla Verde"/>
          <p:cNvSpPr txBox="1"/>
          <p:nvPr/>
        </p:nvSpPr>
        <p:spPr>
          <a:xfrm>
            <a:off x="1234440" y="5303520"/>
            <a:ext cx="2697480" cy="822960"/>
          </a:xfrm>
          <a:prstGeom prst="rect">
            <a:avLst/>
          </a:prstGeom>
          <a:noFill/>
          <a:ln/>
        </p:spPr>
        <p:txBody>
          <a:bodyPr wrap="square" lIns="0" tIns="0" rIns="0" bIns="0" rtlCol="0" anchor="ctr"/>
          <a:lstStyle/>
          <a:p>
            <a:pPr indent="0" marL="0">
              <a:buNone/>
            </a:pPr>
            <a:r>
              <a:rPr lang="en-US" sz="1600" b="1" dirty="0">
                <a:solidFill>
                  <a:schemeClr val="tx1"/>
                </a:solidFill>
              </a:rPr>
              <a:t>Verde</a:t>
            </a:r>
            <a:endParaRPr lang="en-US" sz="1600" dirty="0"/>
          </a:p>
          <a:p>
            <a:pPr indent="0" marL="0">
              <a:buNone/>
            </a:pPr>
            <a:r>
              <a:rPr lang="en-US" sz="1400" dirty="0">
                <a:solidFill>
                  <a:schemeClr val="tx1"/>
                </a:solidFill>
              </a:rPr>
              <a:t>Hay espacio en el nivel</a:t>
            </a:r>
            <a:endParaRPr lang="en-US" sz="1600" dirty="0"/>
          </a:p>
        </p:txBody>
      </p:sp>
      <p:sp>
        <p:nvSpPr>
          <p:cNvPr id="7" name="Regla Rojo"/>
          <p:cNvSpPr/>
          <p:nvPr/>
        </p:nvSpPr>
        <p:spPr>
          <a:xfrm>
            <a:off x="4320540" y="5257800"/>
            <a:ext cx="3520440" cy="914400"/>
          </a:xfrm>
          <a:prstGeom prst="roundRect">
            <a:avLst>
              <a:gd name="adj" fmla="val 8000"/>
            </a:avLst>
          </a:prstGeom>
          <a:solidFill>
            <a:schemeClr val="bg2"/>
          </a:solidFill>
          <a:ln w="12700">
            <a:solidFill>
              <a:schemeClr val="bg2"/>
            </a:solidFill>
            <a:prstDash val="solid"/>
          </a:ln>
        </p:spPr>
      </p:sp>
      <p:sp>
        <p:nvSpPr>
          <p:cNvPr id="8" name="Luz Rojo"/>
          <p:cNvSpPr/>
          <p:nvPr/>
        </p:nvSpPr>
        <p:spPr>
          <a:xfrm>
            <a:off x="4549140" y="5577840"/>
            <a:ext cx="274320" cy="274320"/>
          </a:xfrm>
          <a:prstGeom prst="ellipse">
            <a:avLst/>
          </a:prstGeom>
          <a:solidFill>
            <a:schemeClr val="accent4"/>
          </a:solidFill>
          <a:ln w="12700">
            <a:solidFill>
              <a:schemeClr val="accent4"/>
            </a:solidFill>
            <a:prstDash val="solid"/>
          </a:ln>
        </p:spPr>
      </p:sp>
      <p:sp>
        <p:nvSpPr>
          <p:cNvPr id="9" name="Texto regla Rojo"/>
          <p:cNvSpPr txBox="1"/>
          <p:nvPr/>
        </p:nvSpPr>
        <p:spPr>
          <a:xfrm>
            <a:off x="5006340" y="5303520"/>
            <a:ext cx="2697480" cy="822960"/>
          </a:xfrm>
          <a:prstGeom prst="rect">
            <a:avLst/>
          </a:prstGeom>
          <a:noFill/>
          <a:ln/>
        </p:spPr>
        <p:txBody>
          <a:bodyPr wrap="square" lIns="0" tIns="0" rIns="0" bIns="0" rtlCol="0" anchor="ctr"/>
          <a:lstStyle/>
          <a:p>
            <a:pPr indent="0" marL="0">
              <a:buNone/>
            </a:pPr>
            <a:r>
              <a:rPr lang="en-US" sz="1600" b="1" dirty="0">
                <a:solidFill>
                  <a:schemeClr val="tx1"/>
                </a:solidFill>
              </a:rPr>
              <a:t>Rojo</a:t>
            </a:r>
            <a:endParaRPr lang="en-US" sz="1600" dirty="0"/>
          </a:p>
          <a:p>
            <a:pPr indent="0" marL="0">
              <a:buNone/>
            </a:pPr>
            <a:r>
              <a:rPr lang="en-US" sz="1400" dirty="0">
                <a:solidFill>
                  <a:schemeClr val="tx1"/>
                </a:solidFill>
              </a:rPr>
              <a:t>Nivel lleno con 4 carros: ROJO = Q2</a:t>
            </a:r>
            <a:endParaRPr lang="en-US" sz="1600" dirty="0"/>
          </a:p>
        </p:txBody>
      </p:sp>
      <p:sp>
        <p:nvSpPr>
          <p:cNvPr id="10" name="Regla Tablero"/>
          <p:cNvSpPr/>
          <p:nvPr/>
        </p:nvSpPr>
        <p:spPr>
          <a:xfrm>
            <a:off x="8092440" y="5257800"/>
            <a:ext cx="3520440" cy="914400"/>
          </a:xfrm>
          <a:prstGeom prst="roundRect">
            <a:avLst>
              <a:gd name="adj" fmla="val 8000"/>
            </a:avLst>
          </a:prstGeom>
          <a:solidFill>
            <a:schemeClr val="bg2"/>
          </a:solidFill>
          <a:ln w="12700">
            <a:solidFill>
              <a:schemeClr val="bg2"/>
            </a:solidFill>
            <a:prstDash val="solid"/>
          </a:ln>
        </p:spPr>
      </p:sp>
      <p:sp>
        <p:nvSpPr>
          <p:cNvPr id="11" name="Luz Tablero"/>
          <p:cNvSpPr/>
          <p:nvPr/>
        </p:nvSpPr>
        <p:spPr>
          <a:xfrm>
            <a:off x="8321040" y="5577840"/>
            <a:ext cx="274320" cy="274320"/>
          </a:xfrm>
          <a:prstGeom prst="ellipse">
            <a:avLst/>
          </a:prstGeom>
          <a:solidFill>
            <a:schemeClr val="tx2"/>
          </a:solidFill>
          <a:ln w="12700">
            <a:solidFill>
              <a:schemeClr val="tx2"/>
            </a:solidFill>
            <a:prstDash val="solid"/>
          </a:ln>
        </p:spPr>
      </p:sp>
      <p:sp>
        <p:nvSpPr>
          <p:cNvPr id="12" name="Texto regla Tablero"/>
          <p:cNvSpPr txBox="1"/>
          <p:nvPr/>
        </p:nvSpPr>
        <p:spPr>
          <a:xfrm>
            <a:off x="8778240" y="5303520"/>
            <a:ext cx="2697480" cy="822960"/>
          </a:xfrm>
          <a:prstGeom prst="rect">
            <a:avLst/>
          </a:prstGeom>
          <a:noFill/>
          <a:ln/>
        </p:spPr>
        <p:txBody>
          <a:bodyPr wrap="square" lIns="0" tIns="0" rIns="0" bIns="0" rtlCol="0" anchor="ctr"/>
          <a:lstStyle/>
          <a:p>
            <a:pPr indent="0" marL="0">
              <a:buNone/>
            </a:pPr>
            <a:r>
              <a:rPr lang="en-US" sz="1600" b="1" dirty="0">
                <a:solidFill>
                  <a:schemeClr val="tx1"/>
                </a:solidFill>
              </a:rPr>
              <a:t>Tablero</a:t>
            </a:r>
            <a:endParaRPr lang="en-US" sz="1600" dirty="0"/>
          </a:p>
          <a:p>
            <a:pPr indent="0" marL="0">
              <a:buNone/>
            </a:pPr>
            <a:r>
              <a:rPr lang="en-US" sz="1400" dirty="0">
                <a:solidFill>
                  <a:schemeClr val="tx1"/>
                </a:solidFill>
              </a:rPr>
              <a:t>Manda al primer nivel libre; si no hay, SIN ESPACIO</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Pieza 3: ventilación por CO2</a:t>
            </a:r>
            <a:endParaRPr lang="en-US" sz="3200" dirty="0"/>
          </a:p>
        </p:txBody>
      </p:sp>
      <p:graphicFrame>
        <p:nvGraphicFramePr>
          <p:cNvPr id="10" name="Tabla de casos"/>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1737360"/>
                <a:gridCol w="1188720"/>
                <a:gridCol w="1005840"/>
                <a:gridCol w="1005840"/>
                <a:gridCol w="1097280"/>
              </a:tblGrid>
              <a:tr h="475488">
                <a:tc>
                  <a:txBody>
                    <a:bodyPr/>
                    <a:lstStyle/>
                    <a:p>
                      <a:pPr algn="ctr" indent="0" marL="0">
                        <a:buNone/>
                      </a:pPr>
                      <a:r>
                        <a:rPr lang="en-US" sz="1600" b="1" dirty="0">
                          <a:solidFill>
                            <a:schemeClr val="bg1"/>
                          </a:solidFill>
                        </a:rPr>
                        <a:t>Sensores con gas</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Personas</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V1</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V2</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ALARMA</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chemeClr val="tx2"/>
                    </a:solidFill>
                  </a:tcPr>
                </a:tc>
              </a:tr>
              <a:tr h="475488">
                <a:tc>
                  <a:txBody>
                    <a:bodyPr/>
                    <a:lstStyle/>
                    <a:p>
                      <a:pPr algn="ctr" indent="0" marL="0">
                        <a:buNone/>
                      </a:pPr>
                      <a:r>
                        <a:rPr lang="en-US" sz="1600" dirty="0">
                          <a:solidFill>
                            <a:schemeClr val="tx1"/>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tx1"/>
                          </a:solidFill>
                        </a:rPr>
                        <a:t>—</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475488">
                <a:tc>
                  <a:txBody>
                    <a:bodyPr/>
                    <a:lstStyle/>
                    <a:p>
                      <a:pPr algn="ctr" indent="0" marL="0">
                        <a:buNone/>
                      </a:pPr>
                      <a:r>
                        <a:rPr lang="en-US" sz="1600" dirty="0">
                          <a:solidFill>
                            <a:schemeClr val="tx1"/>
                          </a:solidFill>
                        </a:rPr>
                        <a:t>1 o 2</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tx1"/>
                          </a:solidFill>
                        </a:rPr>
                        <a:t>No</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475488">
                <a:tc>
                  <a:txBody>
                    <a:bodyPr/>
                    <a:lstStyle/>
                    <a:p>
                      <a:pPr algn="ctr" indent="0" marL="0">
                        <a:buNone/>
                      </a:pPr>
                      <a:r>
                        <a:rPr lang="en-US" sz="1600" dirty="0">
                          <a:solidFill>
                            <a:schemeClr val="tx1"/>
                          </a:solidFill>
                        </a:rPr>
                        <a:t>1 o 2</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tx1"/>
                          </a:solidFill>
                        </a:rPr>
                        <a:t>Sí</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b="1" dirty="0">
                          <a:solidFill>
                            <a:schemeClr val="accent3"/>
                          </a:solidFill>
                        </a:rPr>
                        <a:t>1</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475488">
                <a:tc>
                  <a:txBody>
                    <a:bodyPr/>
                    <a:lstStyle/>
                    <a:p>
                      <a:pPr algn="ctr" indent="0" marL="0">
                        <a:buNone/>
                      </a:pPr>
                      <a:r>
                        <a:rPr lang="en-US" sz="1600" dirty="0">
                          <a:solidFill>
                            <a:schemeClr val="tx1"/>
                          </a:solidFill>
                        </a:rPr>
                        <a:t>3 o 4</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tx1"/>
                          </a:solidFill>
                        </a:rPr>
                        <a:t>—</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chemeClr val="accent6"/>
                          </a:solidFill>
                        </a:rPr>
                        <a:t>0</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b="1" dirty="0">
                          <a:solidFill>
                            <a:schemeClr val="accent5"/>
                          </a:solidFill>
                        </a:rPr>
                        <a:t>1</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algn="ctr" indent="0" marL="0">
                        <a:buNone/>
                      </a:pPr>
                      <a:r>
                        <a:rPr lang="en-US" sz="1600" b="1" dirty="0">
                          <a:solidFill>
                            <a:schemeClr val="accent4"/>
                          </a:solidFill>
                        </a:rPr>
                        <a:t>1</a:t>
                      </a:r>
                      <a:endParaRPr lang="en-US" sz="1600" dirty="0"/>
                    </a:p>
                  </a:txBody>
                  <a:tcPr marL="91440" marR="91440" marT="45720" marB="45720"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bl>
          </a:graphicData>
        </a:graphic>
      </p:graphicFrame>
      <p:sp>
        <p:nvSpPr>
          <p:cNvPr id="4" name="Ecuación V2"/>
          <p:cNvSpPr/>
          <p:nvPr/>
        </p:nvSpPr>
        <p:spPr>
          <a:xfrm>
            <a:off x="548640" y="4114800"/>
            <a:ext cx="6035040" cy="1737360"/>
          </a:xfrm>
          <a:prstGeom prst="roundRect">
            <a:avLst>
              <a:gd name="adj" fmla="val 4211"/>
            </a:avLst>
          </a:prstGeom>
          <a:solidFill>
            <a:schemeClr val="bg2"/>
          </a:solidFill>
          <a:ln w="12700">
            <a:solidFill>
              <a:schemeClr val="bg2"/>
            </a:solidFill>
            <a:prstDash val="solid"/>
          </a:ln>
        </p:spPr>
      </p:sp>
      <p:sp>
        <p:nvSpPr>
          <p:cNvPr id="5" name="Texto ecuación V2"/>
          <p:cNvSpPr txBox="1"/>
          <p:nvPr/>
        </p:nvSpPr>
        <p:spPr>
          <a:xfrm>
            <a:off x="777240" y="4251960"/>
            <a:ext cx="5577840" cy="1463040"/>
          </a:xfrm>
          <a:prstGeom prst="rect">
            <a:avLst/>
          </a:prstGeom>
          <a:noFill/>
          <a:ln/>
        </p:spPr>
        <p:txBody>
          <a:bodyPr wrap="square" lIns="0" tIns="0" rIns="0" bIns="0" rtlCol="0" anchor="ctr"/>
          <a:lstStyle/>
          <a:p>
            <a:pPr indent="0" marL="0">
              <a:spcAft>
                <a:spcPts val="400"/>
              </a:spcAft>
              <a:buNone/>
            </a:pPr>
            <a:r>
              <a:rPr lang="en-US" sz="2000" b="1" dirty="0">
                <a:solidFill>
                  <a:schemeClr val="tx2"/>
                </a:solidFill>
                <a:latin typeface="Arial" pitchFamily="34" charset="0"/>
                <a:ea typeface="Arial" pitchFamily="34" charset="-122"/>
                <a:cs typeface="Arial" pitchFamily="34" charset="-120"/>
              </a:rPr>
              <a:t>V2 = ALARMA</a:t>
            </a:r>
            <a:endParaRPr lang="en-US" sz="2000" dirty="0"/>
          </a:p>
          <a:p>
            <a:pPr indent="0" marL="0">
              <a:spcAft>
                <a:spcPts val="400"/>
              </a:spcAft>
              <a:buNone/>
            </a:pPr>
            <a:r>
              <a:rPr lang="en-US" sz="1800" b="1" dirty="0">
                <a:solidFill>
                  <a:schemeClr val="tx2"/>
                </a:solidFill>
                <a:latin typeface="Arial" pitchFamily="34" charset="0"/>
                <a:ea typeface="Arial" pitchFamily="34" charset="-122"/>
                <a:cs typeface="Arial" pitchFamily="34" charset="-120"/>
              </a:rPr>
              <a:t>C1C2C3 + C1C2C4 + C1C3C4 + C2C3C4</a:t>
            </a:r>
            <a:endParaRPr lang="en-US" sz="2000" dirty="0"/>
          </a:p>
          <a:p>
            <a:pPr indent="0" marL="0">
              <a:spcAft>
                <a:spcPts val="400"/>
              </a:spcAft>
              <a:buNone/>
            </a:pPr>
            <a:r>
              <a:rPr lang="en-US" sz="1500" dirty="0">
                <a:solidFill>
                  <a:schemeClr val="tx1"/>
                </a:solidFill>
              </a:rPr>
              <a:t>Sin reloj ni flip-flops: responde en el mismo instante en que cambian los sensores.</a:t>
            </a:r>
            <a:endParaRPr lang="en-US" sz="2000" dirty="0"/>
          </a:p>
        </p:txBody>
      </p:sp>
      <p:pic>
        <p:nvPicPr>
          <p:cNvPr id="6" name="Mapa de Karnaugh V2" descr="/home/claude/park/site/img/p3_kmap_v2.png">    </p:cNvPr>
          <p:cNvPicPr>
            <a:picLocks noChangeAspect="1"/>
          </p:cNvPicPr>
          <p:nvPr/>
        </p:nvPicPr>
        <p:blipFill>
          <a:blip r:embed="rId1"/>
          <a:stretch>
            <a:fillRect/>
          </a:stretch>
        </p:blipFill>
        <p:spPr>
          <a:xfrm>
            <a:off x="6903720" y="1417320"/>
            <a:ext cx="4736592" cy="2148840"/>
          </a:xfrm>
          <a:prstGeom prst="rect">
            <a:avLst/>
          </a:prstGeom>
        </p:spPr>
      </p:pic>
      <p:sp>
        <p:nvSpPr>
          <p:cNvPr id="7" name="Pie mapa V2"/>
          <p:cNvSpPr txBox="1"/>
          <p:nvPr/>
        </p:nvSpPr>
        <p:spPr>
          <a:xfrm>
            <a:off x="6903720" y="3611880"/>
            <a:ext cx="4736592" cy="274320"/>
          </a:xfrm>
          <a:prstGeom prst="rect">
            <a:avLst/>
          </a:prstGeom>
          <a:noFill/>
          <a:ln/>
        </p:spPr>
        <p:txBody>
          <a:bodyPr wrap="square" lIns="0" tIns="0" rIns="0" bIns="0" rtlCol="0" anchor="ctr"/>
          <a:lstStyle/>
          <a:p>
            <a:pPr indent="0" marL="0">
              <a:buNone/>
            </a:pPr>
            <a:r>
              <a:rPr lang="en-US" sz="1200" dirty="0">
                <a:solidFill>
                  <a:schemeClr val="accent6"/>
                </a:solidFill>
              </a:rPr>
              <a:t>Mapa de Karnaugh de V2 (32 combinaciones)</a:t>
            </a:r>
            <a:endParaRPr lang="en-US" sz="1200" dirty="0"/>
          </a:p>
        </p:txBody>
      </p:sp>
      <p:pic>
        <p:nvPicPr>
          <p:cNvPr id="8" name="Mapa de Karnaugh V1" descr="/home/claude/park/site/img/p3_kmap_v1.png">    </p:cNvPr>
          <p:cNvPicPr>
            <a:picLocks noChangeAspect="1"/>
          </p:cNvPicPr>
          <p:nvPr/>
        </p:nvPicPr>
        <p:blipFill>
          <a:blip r:embed="rId2"/>
          <a:stretch>
            <a:fillRect/>
          </a:stretch>
        </p:blipFill>
        <p:spPr>
          <a:xfrm>
            <a:off x="6903720" y="3977640"/>
            <a:ext cx="4023360" cy="1828800"/>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Demostración en Logisim</a:t>
            </a:r>
            <a:endParaRPr lang="en-US" sz="3200" dirty="0"/>
          </a:p>
        </p:txBody>
      </p:sp>
      <p:pic>
        <p:nvPicPr>
          <p:cNvPr id="3" name="Sistema integrado en Logisim" descr="/home/claude/park/site/img/int_inicio.png">    </p:cNvPr>
          <p:cNvPicPr>
            <a:picLocks noChangeAspect="1"/>
          </p:cNvPicPr>
          <p:nvPr/>
        </p:nvPicPr>
        <p:blipFill>
          <a:blip r:embed="rId1"/>
          <a:stretch>
            <a:fillRect/>
          </a:stretch>
        </p:blipFill>
        <p:spPr>
          <a:xfrm>
            <a:off x="795528" y="1280160"/>
            <a:ext cx="10607040" cy="4279392"/>
          </a:xfrm>
          <a:prstGeom prst="rect">
            <a:avLst/>
          </a:prstGeom>
        </p:spPr>
      </p:pic>
      <p:sp>
        <p:nvSpPr>
          <p:cNvPr id="4" name="Etapa demo 1"/>
          <p:cNvSpPr/>
          <p:nvPr/>
        </p:nvSpPr>
        <p:spPr>
          <a:xfrm>
            <a:off x="548640" y="5760720"/>
            <a:ext cx="2606040" cy="457200"/>
          </a:xfrm>
          <a:prstGeom prst="roundRect">
            <a:avLst>
              <a:gd name="adj" fmla="val 50000"/>
            </a:avLst>
          </a:prstGeom>
          <a:solidFill>
            <a:schemeClr val="bg2"/>
          </a:solidFill>
          <a:ln w="12700">
            <a:solidFill>
              <a:schemeClr val="bg2"/>
            </a:solidFill>
            <a:prstDash val="solid"/>
          </a:ln>
        </p:spPr>
      </p:sp>
      <p:sp>
        <p:nvSpPr>
          <p:cNvPr id="5" name="Texto demo 1"/>
          <p:cNvSpPr txBox="1"/>
          <p:nvPr/>
        </p:nvSpPr>
        <p:spPr>
          <a:xfrm>
            <a:off x="548640" y="5760720"/>
            <a:ext cx="2606040" cy="457200"/>
          </a:xfrm>
          <a:prstGeom prst="rect">
            <a:avLst/>
          </a:prstGeom>
          <a:noFill/>
          <a:ln/>
        </p:spPr>
        <p:txBody>
          <a:bodyPr wrap="square" lIns="0" tIns="0" rIns="0" bIns="0" rtlCol="0" anchor="ctr"/>
          <a:lstStyle/>
          <a:p>
            <a:pPr algn="ctr" indent="0" marL="0">
              <a:buNone/>
            </a:pPr>
            <a:r>
              <a:rPr lang="en-US" sz="1500" b="1" dirty="0">
                <a:solidFill>
                  <a:schemeClr val="tx1"/>
                </a:solidFill>
              </a:rPr>
              <a:t>Entra un carro</a:t>
            </a:r>
            <a:endParaRPr lang="en-US" sz="1500" dirty="0"/>
          </a:p>
        </p:txBody>
      </p:sp>
      <p:sp>
        <p:nvSpPr>
          <p:cNvPr id="6" name="Etapa demo 2"/>
          <p:cNvSpPr/>
          <p:nvPr/>
        </p:nvSpPr>
        <p:spPr>
          <a:xfrm>
            <a:off x="3364992" y="5760720"/>
            <a:ext cx="2606040" cy="457200"/>
          </a:xfrm>
          <a:prstGeom prst="roundRect">
            <a:avLst>
              <a:gd name="adj" fmla="val 50000"/>
            </a:avLst>
          </a:prstGeom>
          <a:solidFill>
            <a:schemeClr val="bg2"/>
          </a:solidFill>
          <a:ln w="12700">
            <a:solidFill>
              <a:schemeClr val="bg2"/>
            </a:solidFill>
            <a:prstDash val="solid"/>
          </a:ln>
        </p:spPr>
      </p:sp>
      <p:sp>
        <p:nvSpPr>
          <p:cNvPr id="7" name="Texto demo 2"/>
          <p:cNvSpPr txBox="1"/>
          <p:nvPr/>
        </p:nvSpPr>
        <p:spPr>
          <a:xfrm>
            <a:off x="3364992" y="5760720"/>
            <a:ext cx="2606040" cy="457200"/>
          </a:xfrm>
          <a:prstGeom prst="rect">
            <a:avLst/>
          </a:prstGeom>
          <a:noFill/>
          <a:ln/>
        </p:spPr>
        <p:txBody>
          <a:bodyPr wrap="square" lIns="0" tIns="0" rIns="0" bIns="0" rtlCol="0" anchor="ctr"/>
          <a:lstStyle/>
          <a:p>
            <a:pPr algn="ctr" indent="0" marL="0">
              <a:buNone/>
            </a:pPr>
            <a:r>
              <a:rPr lang="en-US" sz="1500" b="1" dirty="0">
                <a:solidFill>
                  <a:schemeClr val="tx1"/>
                </a:solidFill>
              </a:rPr>
              <a:t>Llenamos el parqueo</a:t>
            </a:r>
            <a:endParaRPr lang="en-US" sz="1500" dirty="0"/>
          </a:p>
        </p:txBody>
      </p:sp>
      <p:sp>
        <p:nvSpPr>
          <p:cNvPr id="8" name="Etapa demo 3"/>
          <p:cNvSpPr/>
          <p:nvPr/>
        </p:nvSpPr>
        <p:spPr>
          <a:xfrm>
            <a:off x="6181344" y="5760720"/>
            <a:ext cx="2606040" cy="457200"/>
          </a:xfrm>
          <a:prstGeom prst="roundRect">
            <a:avLst>
              <a:gd name="adj" fmla="val 50000"/>
            </a:avLst>
          </a:prstGeom>
          <a:solidFill>
            <a:schemeClr val="bg2"/>
          </a:solidFill>
          <a:ln w="12700">
            <a:solidFill>
              <a:schemeClr val="bg2"/>
            </a:solidFill>
            <a:prstDash val="solid"/>
          </a:ln>
        </p:spPr>
      </p:sp>
      <p:sp>
        <p:nvSpPr>
          <p:cNvPr id="9" name="Texto demo 3"/>
          <p:cNvSpPr txBox="1"/>
          <p:nvPr/>
        </p:nvSpPr>
        <p:spPr>
          <a:xfrm>
            <a:off x="6181344" y="5760720"/>
            <a:ext cx="2606040" cy="457200"/>
          </a:xfrm>
          <a:prstGeom prst="rect">
            <a:avLst/>
          </a:prstGeom>
          <a:noFill/>
          <a:ln/>
        </p:spPr>
        <p:txBody>
          <a:bodyPr wrap="square" lIns="0" tIns="0" rIns="0" bIns="0" rtlCol="0" anchor="ctr"/>
          <a:lstStyle/>
          <a:p>
            <a:pPr algn="ctr" indent="0" marL="0">
              <a:buNone/>
            </a:pPr>
            <a:r>
              <a:rPr lang="en-US" sz="1500" b="1" dirty="0">
                <a:solidFill>
                  <a:schemeClr val="tx1"/>
                </a:solidFill>
              </a:rPr>
              <a:t>Probamos la ventilación</a:t>
            </a:r>
            <a:endParaRPr lang="en-US" sz="1500" dirty="0"/>
          </a:p>
        </p:txBody>
      </p:sp>
      <p:sp>
        <p:nvSpPr>
          <p:cNvPr id="10" name="Etapa demo 4"/>
          <p:cNvSpPr/>
          <p:nvPr/>
        </p:nvSpPr>
        <p:spPr>
          <a:xfrm>
            <a:off x="8997696" y="5760720"/>
            <a:ext cx="2606040" cy="457200"/>
          </a:xfrm>
          <a:prstGeom prst="roundRect">
            <a:avLst>
              <a:gd name="adj" fmla="val 50000"/>
            </a:avLst>
          </a:prstGeom>
          <a:solidFill>
            <a:schemeClr val="bg2"/>
          </a:solidFill>
          <a:ln w="12700">
            <a:solidFill>
              <a:schemeClr val="bg2"/>
            </a:solidFill>
            <a:prstDash val="solid"/>
          </a:ln>
        </p:spPr>
      </p:sp>
      <p:sp>
        <p:nvSpPr>
          <p:cNvPr id="11" name="Texto demo 4"/>
          <p:cNvSpPr txBox="1"/>
          <p:nvPr/>
        </p:nvSpPr>
        <p:spPr>
          <a:xfrm>
            <a:off x="8997696" y="5760720"/>
            <a:ext cx="2606040" cy="457200"/>
          </a:xfrm>
          <a:prstGeom prst="rect">
            <a:avLst/>
          </a:prstGeom>
          <a:noFill/>
          <a:ln/>
        </p:spPr>
        <p:txBody>
          <a:bodyPr wrap="square" lIns="0" tIns="0" rIns="0" bIns="0" rtlCol="0" anchor="ctr"/>
          <a:lstStyle/>
          <a:p>
            <a:pPr algn="ctr" indent="0" marL="0">
              <a:buNone/>
            </a:pPr>
            <a:r>
              <a:rPr lang="en-US" sz="1500" b="1" dirty="0">
                <a:solidFill>
                  <a:schemeClr val="tx1"/>
                </a:solidFill>
              </a:rPr>
              <a:t>Pregunta integradora</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1417320" y="384048"/>
            <a:ext cx="10241280" cy="713232"/>
          </a:xfrm>
          <a:prstGeom prst="rect">
            <a:avLst/>
          </a:prstGeom>
          <a:noFill/>
          <a:ln/>
        </p:spPr>
        <p:txBody>
          <a:bodyPr wrap="square" lIns="0" tIns="0" rIns="0" bIns="0" rtlCol="0" anchor="ctr"/>
          <a:lstStyle/>
          <a:p>
            <a:pPr algn="l" indent="0" marL="0">
              <a:buNone/>
            </a:pPr>
            <a:r>
              <a:rPr lang="en-US" sz="3200" b="1" dirty="0">
                <a:solidFill>
                  <a:schemeClr val="tx1"/>
                </a:solidFill>
              </a:rPr>
              <a:t>Pregunta integradora</a:t>
            </a:r>
            <a:endParaRPr lang="en-US" sz="3200" dirty="0"/>
          </a:p>
        </p:txBody>
      </p:sp>
      <p:pic>
        <p:nvPicPr>
          <p:cNvPr id="3" name="Resultado de la pregunta integradora" descr="/home/claude/park/site/img/int_pregunta_marcada.png">    </p:cNvPr>
          <p:cNvPicPr>
            <a:picLocks noChangeAspect="1"/>
          </p:cNvPicPr>
          <p:nvPr/>
        </p:nvPicPr>
        <p:blipFill>
          <a:blip r:embed="rId1"/>
          <a:stretch>
            <a:fillRect/>
          </a:stretch>
        </p:blipFill>
        <p:spPr>
          <a:xfrm>
            <a:off x="1161288" y="1234440"/>
            <a:ext cx="9875520" cy="3986784"/>
          </a:xfrm>
          <a:prstGeom prst="rect">
            <a:avLst/>
          </a:prstGeom>
        </p:spPr>
      </p:pic>
      <p:sp>
        <p:nvSpPr>
          <p:cNvPr id="4" name="Caja frase clave"/>
          <p:cNvSpPr/>
          <p:nvPr/>
        </p:nvSpPr>
        <p:spPr>
          <a:xfrm>
            <a:off x="548640" y="5394960"/>
            <a:ext cx="11091672" cy="777240"/>
          </a:xfrm>
          <a:prstGeom prst="roundRect">
            <a:avLst>
              <a:gd name="adj" fmla="val 9412"/>
            </a:avLst>
          </a:prstGeom>
          <a:solidFill>
            <a:schemeClr val="tx1"/>
          </a:solidFill>
          <a:ln w="12700">
            <a:solidFill>
              <a:schemeClr val="tx1"/>
            </a:solidFill>
            <a:prstDash val="solid"/>
          </a:ln>
        </p:spPr>
      </p:sp>
      <p:sp>
        <p:nvSpPr>
          <p:cNvPr id="5" name="Frase clave"/>
          <p:cNvSpPr txBox="1"/>
          <p:nvPr/>
        </p:nvSpPr>
        <p:spPr>
          <a:xfrm>
            <a:off x="731520" y="5394960"/>
            <a:ext cx="10725912" cy="777240"/>
          </a:xfrm>
          <a:prstGeom prst="rect">
            <a:avLst/>
          </a:prstGeom>
          <a:noFill/>
          <a:ln/>
        </p:spPr>
        <p:txBody>
          <a:bodyPr wrap="square" lIns="0" tIns="0" rIns="0" bIns="0" rtlCol="0" anchor="ctr"/>
          <a:lstStyle/>
          <a:p>
            <a:pPr algn="ctr" indent="0" marL="0">
              <a:buNone/>
            </a:pPr>
            <a:r>
              <a:rPr lang="en-US" sz="2200" b="1" i="1" dirty="0">
                <a:solidFill>
                  <a:schemeClr val="accent1"/>
                </a:solidFill>
              </a:rPr>
              <a:t>“Los contadores esperan el reloj; la ventilación no espera a nadie.”</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22960"/>
          </a:xfrm>
          <a:prstGeom prst="rect">
            <a:avLst/>
          </a:prstGeom>
          <a:noFill/>
          <a:ln/>
        </p:spPr>
        <p:txBody>
          <a:bodyPr wrap="square" lIns="0" tIns="0" rIns="0" bIns="0" rtlCol="0" anchor="ctr"/>
          <a:lstStyle/>
          <a:p>
            <a:pPr algn="l" indent="0" marL="0">
              <a:buNone/>
            </a:pPr>
            <a:r>
              <a:rPr lang="en-US" sz="4000" b="1" dirty="0">
                <a:solidFill>
                  <a:schemeClr val="bg1"/>
                </a:solidFill>
              </a:rPr>
              <a:t>Conclusiones</a:t>
            </a:r>
            <a:endParaRPr lang="en-US" sz="4000" dirty="0"/>
          </a:p>
        </p:txBody>
      </p:sp>
      <p:sp>
        <p:nvSpPr>
          <p:cNvPr id="3" name="Círculo Módulos que encajan"/>
          <p:cNvSpPr/>
          <p:nvPr/>
        </p:nvSpPr>
        <p:spPr>
          <a:xfrm>
            <a:off x="731520" y="1783080"/>
            <a:ext cx="777240" cy="777240"/>
          </a:xfrm>
          <a:prstGeom prst="ellipse">
            <a:avLst/>
          </a:prstGeom>
          <a:solidFill>
            <a:schemeClr val="accent1"/>
          </a:solidFill>
          <a:ln w="12700">
            <a:solidFill>
              <a:schemeClr val="accent1"/>
            </a:solidFill>
            <a:prstDash val="solid"/>
          </a:ln>
        </p:spPr>
      </p:sp>
      <p:pic>
        <p:nvPicPr>
          <p:cNvPr id="4" name="Ícono Módulos que encajan" descr="preencoded.png">    </p:cNvPr>
          <p:cNvPicPr>
            <a:picLocks noChangeAspect="1"/>
          </p:cNvPicPr>
          <p:nvPr/>
        </p:nvPicPr>
        <p:blipFill>
          <a:blip r:embed="rId1"/>
          <a:stretch>
            <a:fillRect/>
          </a:stretch>
        </p:blipFill>
        <p:spPr>
          <a:xfrm>
            <a:off x="923544" y="1975104"/>
            <a:ext cx="393192" cy="393192"/>
          </a:xfrm>
          <a:prstGeom prst="rect">
            <a:avLst/>
          </a:prstGeom>
        </p:spPr>
      </p:pic>
      <p:sp>
        <p:nvSpPr>
          <p:cNvPr id="5" name="Título Módulos que encajan"/>
          <p:cNvSpPr txBox="1"/>
          <p:nvPr/>
        </p:nvSpPr>
        <p:spPr>
          <a:xfrm>
            <a:off x="731520" y="2743200"/>
            <a:ext cx="3291840" cy="457200"/>
          </a:xfrm>
          <a:prstGeom prst="rect">
            <a:avLst/>
          </a:prstGeom>
          <a:noFill/>
          <a:ln/>
        </p:spPr>
        <p:txBody>
          <a:bodyPr wrap="square" lIns="0" tIns="0" rIns="0" bIns="0" rtlCol="0" anchor="ctr"/>
          <a:lstStyle/>
          <a:p>
            <a:pPr indent="0" marL="0">
              <a:buNone/>
            </a:pPr>
            <a:r>
              <a:rPr lang="en-US" sz="2000" b="1" dirty="0">
                <a:solidFill>
                  <a:schemeClr val="bg1"/>
                </a:solidFill>
              </a:rPr>
              <a:t>Módulos que encajan</a:t>
            </a:r>
            <a:endParaRPr lang="en-US" sz="2000" dirty="0"/>
          </a:p>
        </p:txBody>
      </p:sp>
      <p:sp>
        <p:nvSpPr>
          <p:cNvPr id="6" name="Texto Módulos que encajan"/>
          <p:cNvSpPr txBox="1"/>
          <p:nvPr/>
        </p:nvSpPr>
        <p:spPr>
          <a:xfrm>
            <a:off x="731520" y="3200400"/>
            <a:ext cx="3291840" cy="1097280"/>
          </a:xfrm>
          <a:prstGeom prst="rect">
            <a:avLst/>
          </a:prstGeom>
          <a:noFill/>
          <a:ln/>
        </p:spPr>
        <p:txBody>
          <a:bodyPr wrap="square" lIns="0" tIns="0" rIns="0" bIns="0" rtlCol="0" anchor="t"/>
          <a:lstStyle/>
          <a:p>
            <a:pPr indent="0" marL="0">
              <a:buNone/>
            </a:pPr>
            <a:r>
              <a:rPr lang="en-US" sz="1600" dirty="0">
                <a:solidFill>
                  <a:schemeClr val="bg2"/>
                </a:solidFill>
              </a:rPr>
              <a:t>4 piezas diseñadas por separado que funcionan juntas gracias a un contrato de señales común.</a:t>
            </a:r>
            <a:endParaRPr lang="en-US" sz="1600" dirty="0"/>
          </a:p>
        </p:txBody>
      </p:sp>
      <p:sp>
        <p:nvSpPr>
          <p:cNvPr id="7" name="Círculo Un solo reloj"/>
          <p:cNvSpPr/>
          <p:nvPr/>
        </p:nvSpPr>
        <p:spPr>
          <a:xfrm>
            <a:off x="4361688" y="1783080"/>
            <a:ext cx="777240" cy="777240"/>
          </a:xfrm>
          <a:prstGeom prst="ellipse">
            <a:avLst/>
          </a:prstGeom>
          <a:solidFill>
            <a:schemeClr val="accent1"/>
          </a:solidFill>
          <a:ln w="12700">
            <a:solidFill>
              <a:schemeClr val="accent1"/>
            </a:solidFill>
            <a:prstDash val="solid"/>
          </a:ln>
        </p:spPr>
      </p:sp>
      <p:pic>
        <p:nvPicPr>
          <p:cNvPr id="8" name="Ícono Un solo reloj" descr="preencoded.png">    </p:cNvPr>
          <p:cNvPicPr>
            <a:picLocks noChangeAspect="1"/>
          </p:cNvPicPr>
          <p:nvPr/>
        </p:nvPicPr>
        <p:blipFill>
          <a:blip r:embed="rId2"/>
          <a:stretch>
            <a:fillRect/>
          </a:stretch>
        </p:blipFill>
        <p:spPr>
          <a:xfrm>
            <a:off x="4553712" y="1975104"/>
            <a:ext cx="393192" cy="393192"/>
          </a:xfrm>
          <a:prstGeom prst="rect">
            <a:avLst/>
          </a:prstGeom>
        </p:spPr>
      </p:pic>
      <p:sp>
        <p:nvSpPr>
          <p:cNvPr id="9" name="Título Un solo reloj"/>
          <p:cNvSpPr txBox="1"/>
          <p:nvPr/>
        </p:nvSpPr>
        <p:spPr>
          <a:xfrm>
            <a:off x="4361688" y="2743200"/>
            <a:ext cx="3291840" cy="457200"/>
          </a:xfrm>
          <a:prstGeom prst="rect">
            <a:avLst/>
          </a:prstGeom>
          <a:noFill/>
          <a:ln/>
        </p:spPr>
        <p:txBody>
          <a:bodyPr wrap="square" lIns="0" tIns="0" rIns="0" bIns="0" rtlCol="0" anchor="ctr"/>
          <a:lstStyle/>
          <a:p>
            <a:pPr indent="0" marL="0">
              <a:buNone/>
            </a:pPr>
            <a:r>
              <a:rPr lang="en-US" sz="2000" b="1" dirty="0">
                <a:solidFill>
                  <a:schemeClr val="bg1"/>
                </a:solidFill>
              </a:rPr>
              <a:t>Un solo reloj</a:t>
            </a:r>
            <a:endParaRPr lang="en-US" sz="2000" dirty="0"/>
          </a:p>
        </p:txBody>
      </p:sp>
      <p:sp>
        <p:nvSpPr>
          <p:cNvPr id="10" name="Texto Un solo reloj"/>
          <p:cNvSpPr txBox="1"/>
          <p:nvPr/>
        </p:nvSpPr>
        <p:spPr>
          <a:xfrm>
            <a:off x="4361688" y="3200400"/>
            <a:ext cx="3291840" cy="1097280"/>
          </a:xfrm>
          <a:prstGeom prst="rect">
            <a:avLst/>
          </a:prstGeom>
          <a:noFill/>
          <a:ln/>
        </p:spPr>
        <p:txBody>
          <a:bodyPr wrap="square" lIns="0" tIns="0" rIns="0" bIns="0" rtlCol="0" anchor="t"/>
          <a:lstStyle/>
          <a:p>
            <a:pPr indent="0" marL="0">
              <a:buNone/>
            </a:pPr>
            <a:r>
              <a:rPr lang="en-US" sz="1600" dirty="0">
                <a:solidFill>
                  <a:schemeClr val="bg2"/>
                </a:solidFill>
              </a:rPr>
              <a:t>Todos los flip-flops cambian en el mismo flanco de CLKSINC, sin desfases entre piezas.</a:t>
            </a:r>
            <a:endParaRPr lang="en-US" sz="1600" dirty="0"/>
          </a:p>
        </p:txBody>
      </p:sp>
      <p:sp>
        <p:nvSpPr>
          <p:cNvPr id="11" name="Círculo Secuencial y combinacional"/>
          <p:cNvSpPr/>
          <p:nvPr/>
        </p:nvSpPr>
        <p:spPr>
          <a:xfrm>
            <a:off x="7991856" y="1783080"/>
            <a:ext cx="777240" cy="777240"/>
          </a:xfrm>
          <a:prstGeom prst="ellipse">
            <a:avLst/>
          </a:prstGeom>
          <a:solidFill>
            <a:schemeClr val="accent1"/>
          </a:solidFill>
          <a:ln w="12700">
            <a:solidFill>
              <a:schemeClr val="accent1"/>
            </a:solidFill>
            <a:prstDash val="solid"/>
          </a:ln>
        </p:spPr>
      </p:sp>
      <p:pic>
        <p:nvPicPr>
          <p:cNvPr id="12" name="Ícono Secuencial y combinacional" descr="preencoded.png">    </p:cNvPr>
          <p:cNvPicPr>
            <a:picLocks noChangeAspect="1"/>
          </p:cNvPicPr>
          <p:nvPr/>
        </p:nvPicPr>
        <p:blipFill>
          <a:blip r:embed="rId3"/>
          <a:stretch>
            <a:fillRect/>
          </a:stretch>
        </p:blipFill>
        <p:spPr>
          <a:xfrm>
            <a:off x="8183880" y="1975104"/>
            <a:ext cx="393192" cy="393192"/>
          </a:xfrm>
          <a:prstGeom prst="rect">
            <a:avLst/>
          </a:prstGeom>
        </p:spPr>
      </p:pic>
      <p:sp>
        <p:nvSpPr>
          <p:cNvPr id="13" name="Título Secuencial y combinacional"/>
          <p:cNvSpPr txBox="1"/>
          <p:nvPr/>
        </p:nvSpPr>
        <p:spPr>
          <a:xfrm>
            <a:off x="7991856" y="2743200"/>
            <a:ext cx="3291840" cy="457200"/>
          </a:xfrm>
          <a:prstGeom prst="rect">
            <a:avLst/>
          </a:prstGeom>
          <a:noFill/>
          <a:ln/>
        </p:spPr>
        <p:txBody>
          <a:bodyPr wrap="square" lIns="0" tIns="0" rIns="0" bIns="0" rtlCol="0" anchor="ctr"/>
          <a:lstStyle/>
          <a:p>
            <a:pPr indent="0" marL="0">
              <a:buNone/>
            </a:pPr>
            <a:r>
              <a:rPr lang="en-US" sz="2000" b="1" dirty="0">
                <a:solidFill>
                  <a:schemeClr val="bg1"/>
                </a:solidFill>
              </a:rPr>
              <a:t>Secuencial y combinacional</a:t>
            </a:r>
            <a:endParaRPr lang="en-US" sz="2000" dirty="0"/>
          </a:p>
        </p:txBody>
      </p:sp>
      <p:sp>
        <p:nvSpPr>
          <p:cNvPr id="14" name="Texto Secuencial y combinacional"/>
          <p:cNvSpPr txBox="1"/>
          <p:nvPr/>
        </p:nvSpPr>
        <p:spPr>
          <a:xfrm>
            <a:off x="7991856" y="3200400"/>
            <a:ext cx="3291840" cy="1097280"/>
          </a:xfrm>
          <a:prstGeom prst="rect">
            <a:avLst/>
          </a:prstGeom>
          <a:noFill/>
          <a:ln/>
        </p:spPr>
        <p:txBody>
          <a:bodyPr wrap="square" lIns="0" tIns="0" rIns="0" bIns="0" rtlCol="0" anchor="t"/>
          <a:lstStyle/>
          <a:p>
            <a:pPr indent="0" marL="0">
              <a:buNone/>
            </a:pPr>
            <a:r>
              <a:rPr lang="en-US" sz="1600" dirty="0">
                <a:solidFill>
                  <a:schemeClr val="bg2"/>
                </a:solidFill>
              </a:rPr>
              <a:t>Los contadores esperan el reloj; la ventilación responde al instante.</a:t>
            </a:r>
            <a:endParaRPr lang="en-US" sz="1600" dirty="0"/>
          </a:p>
        </p:txBody>
      </p:sp>
      <p:sp>
        <p:nvSpPr>
          <p:cNvPr id="15" name="Gracias"/>
          <p:cNvSpPr txBox="1"/>
          <p:nvPr/>
        </p:nvSpPr>
        <p:spPr>
          <a:xfrm>
            <a:off x="731520" y="4892040"/>
            <a:ext cx="10698480" cy="91440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Gracias. ¿Preguntas?</a:t>
            </a:r>
            <a:endParaRPr lang="en-US" sz="4400" dirty="0"/>
          </a:p>
        </p:txBody>
      </p:sp>
    </p:spTree>
  </p:cSld>
  <p:clrMapOvr>
    <a:masterClrMapping/>
  </p:clrMapOvr>
</p:sld>
</file>

<file path=ppt/theme/theme1.xml><?xml version="1.0" encoding="utf-8"?>
<a:theme xmlns:a="http://schemas.openxmlformats.org/drawingml/2006/main" name="Park-Tech GT">
  <a:themeElements>
    <a:clrScheme name="Park-Tech GT">
      <a:dk1>
        <a:srgbClr val="18212C"/>
      </a:dk1>
      <a:lt1>
        <a:srgbClr val="FFFFFF"/>
      </a:lt1>
      <a:dk2>
        <a:srgbClr val="1D4F9C"/>
      </a:dk2>
      <a:lt2>
        <a:srgbClr val="EEF1F4"/>
      </a:lt2>
      <a:accent1>
        <a:srgbClr val="E3A21A"/>
      </a:accent1>
      <a:accent2>
        <a:srgbClr val="1D4F9C"/>
      </a:accent2>
      <a:accent3>
        <a:srgbClr val="1F9D4C"/>
      </a:accent3>
      <a:accent4>
        <a:srgbClr val="D63A2B"/>
      </a:accent4>
      <a:accent5>
        <a:srgbClr val="E8891A"/>
      </a:accent5>
      <a:accent6>
        <a:srgbClr val="5B6878"/>
      </a:accent6>
      <a:hlink>
        <a:srgbClr val="1D4F9C"/>
      </a:hlink>
      <a:folHlink>
        <a:srgbClr val="5B6878"/>
      </a:folHlink>
    </a:clrScheme>
    <a:fontScheme name="Park-Tech G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Park-Tech GT</dc:title>
  <dc:subject>PptxGenJS Presentation</dc:subject>
  <dc:creator>Emilio García</dc:creator>
  <cp:lastModifiedBy>Emilio García</cp:lastModifiedBy>
  <cp:revision>1</cp:revision>
  <dcterms:created xsi:type="dcterms:W3CDTF">2026-10-29T00:34:10Z</dcterms:created>
  <dcterms:modified xsi:type="dcterms:W3CDTF">2026-10-29T00:34:10Z</dcterms:modified>
</cp:coreProperties>
</file>